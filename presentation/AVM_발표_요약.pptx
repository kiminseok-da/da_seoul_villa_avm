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eaLnBrk="0" algn="l" indent="0" marL="0">
              <a:buNone/>
            </a:pPr>
            <a:endParaRPr lang="ko-KR" alt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eaLnBrk="0" indent="0" marL="0">
              <a:buNone/>
            </a:pP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1002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과제 전형  |  제출 자료 요약본</a:t>
            </a:r>
            <a:endParaRPr lang="ko-KR" alt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다세대(빌라)</a:t>
            </a:r>
            <a:endParaRPr lang="ko-KR" altLang="en-US" sz="40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시세 산정 모델</a:t>
            </a:r>
            <a:endParaRPr lang="ko-KR" alt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600" dirty="0">
                <a:solidFill>
                  <a:srgbClr val="C9D3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지번·층·호를 넣으면 시세·범위·신뢰도·근거를 산출합니다  |  강서구 화곡동 · 관악구 · 강남구  |  기준일 2026-10-06</a:t>
            </a:r>
            <a:endParaRPr lang="ko-KR" alt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김인석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C9D3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github.com/KimInSeok-DA/DA_Seoul_Villa_AVM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1  기술 스택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Python으로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수집부터 추정까지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구현했습니다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데이터는 공공데이터포털·VWorld 등 공공 API에서 직접 수집했습니다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</a:t>
            </a:r>
            <a:endParaRPr lang="ko-KR" alt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ko-KR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수집·분석·실행을 한 언어로</a:t>
            </a:r>
            <a:endParaRPr lang="ko-KR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600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7298" y="18288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224028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pandas · numpy</a:t>
            </a:r>
            <a:endParaRPr lang="ko-KR" alt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7298" y="288036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데이터 결합과 정제</a:t>
            </a:r>
            <a:endParaRPr lang="ko-KR" alt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1600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1637" y="18288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</a:t>
            </a:r>
            <a:endParaRPr lang="ko-KR" alt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24028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· scikit-learn</a:t>
            </a:r>
            <a:endParaRPr lang="ko-KR" alt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288036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방법 비교 후 최종 모델 선정</a:t>
            </a:r>
            <a:endParaRPr lang="ko-KR" alt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062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데이터</a:t>
            </a:r>
            <a:endParaRPr lang="ko-KR" alt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공공데이터포털·VWorld</a:t>
            </a:r>
            <a:endParaRPr lang="ko-KR" alt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5780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실거래가, 공시가격, 건축물대장, 좌표</a:t>
            </a:r>
            <a:endParaRPr lang="ko-KR" alt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978" y="39776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7298" y="42062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시각화·기록</a:t>
            </a:r>
            <a:endParaRPr lang="ko-KR" alt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97298" y="46177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Jupyter·matplotlib·Git</a:t>
            </a:r>
            <a:endParaRPr lang="ko-KR" alt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97298" y="525780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노트북, 그래프, 작업 이력 공개</a:t>
            </a:r>
            <a:endParaRPr lang="ko-KR" alt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7317" y="39776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71637" y="42062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ko-KR" alt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71637" y="46177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ko-KR" alt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71637" y="525780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작성·점검·문서화 보조(7번 항목)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2  데이터 소스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데이터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8가지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주소(지번) 기준으로 연결했습니다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데이터마다 얻을 수 있는 정보입니다. 다세대와 연립을 모두 포함했습니다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실거래가</a:t>
            </a:r>
            <a:endParaRPr lang="ko-KR" alt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거래 가격</a:t>
            </a:r>
            <a:endParaRPr lang="ko-KR" alt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2020-10 ~ 2026-10 매매 36,997건</a:t>
            </a:r>
            <a:endParaRPr lang="ko-KR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6002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7298" y="180136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</a:t>
            </a:r>
            <a:endParaRPr lang="ko-KR" alt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22860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정부가 매긴 호별 가격</a:t>
            </a:r>
            <a:endParaRPr lang="ko-KR" alt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7298" y="27432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2026년, 107,236호</a:t>
            </a:r>
            <a:endParaRPr lang="ko-KR" alt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16002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1637" y="180136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건축물대장(현행·말소)</a:t>
            </a:r>
            <a:endParaRPr lang="ko-KR" alt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2860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사용승인일·승강기·층수, 철거 여부</a:t>
            </a:r>
            <a:endParaRPr lang="ko-KR" alt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27432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9,928개 지번 + 말소 49,074건</a:t>
            </a:r>
            <a:endParaRPr lang="ko-KR" alt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1304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필지 좌표·땅값</a:t>
            </a:r>
            <a:endParaRPr lang="ko-KR" alt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좌표와 ㎡당 공시지가</a:t>
            </a:r>
            <a:endParaRPr lang="ko-KR" alt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54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구 123,615필지</a:t>
            </a:r>
            <a:endParaRPr lang="ko-KR" alt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978" y="361188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7298" y="381304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</a:t>
            </a:r>
            <a:endParaRPr lang="ko-KR" alt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97298" y="42976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역까지 거리</a:t>
            </a:r>
            <a:endParaRPr lang="ko-KR" alt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97298" y="4754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275개 역</a:t>
            </a:r>
            <a:endParaRPr lang="ko-KR" alt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7317" y="361188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71637" y="381304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0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법정동·행정동 코드</a:t>
            </a:r>
            <a:endParaRPr lang="ko-KR" alt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71637" y="42976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주소를 고유번호(PNU)로 변환</a:t>
            </a:r>
            <a:endParaRPr lang="ko-KR" alt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71637" y="4754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 법정동, 행정동 63개 연결</a:t>
            </a:r>
            <a:endParaRPr lang="ko-KR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좌표는 지도 서비스(Kakao 등) 대신 정부 연속지적도에서 받았습니다. 지도 서비스는 약관상 결과를 저장할 수 없기 때문입니다.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3  시세 요인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정보와 제외한 정보: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주소와 층으로 알 수 있는 것만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사용했습니다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시점에 알 수 없는 정보(예: 직거래 여부)는 가격에 영향이 커도 사용할 수 없습니다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정보</a:t>
            </a:r>
            <a:endParaRPr lang="ko-KR" alt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공시가격, 동네 실거래 배율, 시기별 시세 변화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연식 · 층(지하·꼭대기 층 여부) · 건물 층수 · 전용면적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· 세대수 · 세대당 주차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 거리 · 땅값 · 위치(좌표) · 지역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 중요도가 높은 정보: 연식 · 지역 · 층 · 건물 층수 · 면적 · 위치</a:t>
            </a:r>
            <a:endParaRPr lang="ko-KR" alt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제외한 정보와 이유</a:t>
            </a:r>
            <a:endParaRPr lang="ko-KR" alt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직거래 여부, 매도·매수인 정보: 추정 시점에 알 수 없음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전월세: 전세금은 매매가와 성격이 다름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건축년도: 연식과 중복 / 동 수: 세대수와 거의 중복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구조: 90%가 철근콘크리트라 구별력이 없음</a:t>
            </a:r>
            <a:endParaRPr lang="ko-KR" altLang="en-US" sz="14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학교·공원 거리: 기간 내 반영하지 못함(개선안)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4  모델 설계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한 줄이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시세·범위·신뢰도·근거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되는 과정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실행할 때마다 최신 거래로 다시 계산하므로, 새 거래가 쌓이면 다시 실행하는 것만으로 반영됩니다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입력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구·동·지번·층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호·면적(빈칸 허용)</a:t>
            </a:r>
            <a:endParaRPr lang="ko-KR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354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주소 확인</a:t>
            </a:r>
            <a:endParaRPr lang="ko-KR" alt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고유번호(PNU)로 변환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밖이면 사유와 함께 실패 처리</a:t>
            </a:r>
            <a:endParaRPr lang="ko-KR" alt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61888" y="2354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공시가격 찾기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데이터에 없으면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중 공공 API 조회</a:t>
            </a:r>
            <a:endParaRPr lang="ko-KR" alt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14816" y="2354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07424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90304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기본 추정</a:t>
            </a:r>
            <a:endParaRPr lang="ko-KR" alt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 × 실거래 배율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(같은 건물 거래 우선)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07424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90304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머신러닝 보정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연식·층·위치 등으로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추정 보정</a:t>
            </a:r>
            <a:endParaRPr lang="ko-KR" alt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14816" y="4640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6254496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37376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추정값</a:t>
            </a:r>
            <a:endParaRPr lang="ko-KR" alt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보정한 두 값의 평균</a:t>
            </a:r>
            <a:endParaRPr lang="ko-KR" alt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61888" y="4640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3401568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84448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범위·신뢰도</a:t>
            </a:r>
            <a:endParaRPr lang="ko-KR" alt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84448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물건의 과거 오차로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 범위·신뢰도 산출</a:t>
            </a:r>
            <a:endParaRPr lang="ko-KR" alt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4640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출력</a:t>
            </a:r>
            <a:endParaRPr lang="ko-KR" alt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추정·하한·상한·신뢰도</a:t>
            </a:r>
            <a:endParaRPr lang="ko-KR" altLang="en-US" sz="12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한 줄</a:t>
            </a:r>
            <a:endParaRPr lang="ko-KR" alt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64724" y="3063240"/>
            <a:ext cx="0" cy="86868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⑤의 두 값은 건물 특징만으로 직접 낸 가격과, ④가 빗나갈 정도를 예측해 고친 가격입니다. 장단점이 달라 두 값의 평균을 씁니다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5  자체 검증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학습에 쓰지 않은 632개 건물로 검증: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오차 9%, 10건 중 8건이 ±20% 안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1년 거래가 있는 건물 3,159개 중 632개를 미리 떼어 두고, 건물마다 가장 최근 거래가를 맞혔습니다</a:t>
            </a:r>
            <a:endParaRPr lang="ko-KR" alt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25880"/>
                <a:gridCol w="12344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상황(632건)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보통 오차(중앙값)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MAPE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±20% 적중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80% 범위 포함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처음 보는 건물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B26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9.4%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13.7%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B26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78.5%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82.9%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과거 거래가 있는 건물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B26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8.6%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13.0%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B26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80.1%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80.7%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(비교) 기본 추정만 사용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11.1% / 10.7%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15.8% / 14.7%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71.7% / 73.9%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69.8% / 67.7%</a:t>
                      </a:r>
                      <a:endParaRPr lang="ko-KR" alt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70655" cy="1828800"/>
          </a:xfrm>
          <a:prstGeom prst="roundRect">
            <a:avLst>
              <a:gd name="adj" fmla="val 4000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C9D3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신뢰도가 높을수록 오차가 작음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오차 17% → 7%</a:t>
            </a:r>
            <a:endParaRPr lang="ko-KR" alt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C9D3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0.6 이하 → 0.8 초과, ±20% 적중 62% → 86%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오차가 컸던 사례와 원인</a:t>
            </a:r>
            <a:endParaRPr lang="ko-KR" alt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731520"/>
                <a:gridCol w="2194560"/>
              </a:tblGrid>
              <a:tr h="38404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물건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실거래가*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추정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차이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추정 원인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강남 청담동 37.2㎡ 2층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3.89억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7.41억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+91%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직거래, 공시가격보다 싸게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관악 봉천동 60.09㎡ 3층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2.10억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3.82억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+82%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직거래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강서 화곡동 30.00㎡ 7층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1.24억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2.19억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+76%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직거래, 공시가격보다 싸게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772400" y="3657600"/>
            <a:ext cx="3870655" cy="2286000"/>
          </a:xfrm>
          <a:prstGeom prst="roundRect">
            <a:avLst>
              <a:gd name="adj" fmla="val 32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01000" y="38404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±20%를 벗어난 126건 중 78%가 공시가격 대비 유난히 싸거나 비싸게 거래된 집이었습니다</a:t>
            </a:r>
            <a:endParaRPr lang="ko-KR" altLang="en-US" sz="12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오차 상위 15건 중 11건이 직거래로, 거래 사정은 주소만으로 알 수 없어 한계로 정리했습니다</a:t>
            </a:r>
            <a:endParaRPr lang="ko-KR" alt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8A89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기준일 환산 실거래가 · 면적 입력 기준, 비교 행은 처음 보는 건물 / 과거 거래가 있는 건물 · 상세는 본편 13～16장과 부록 C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6  예시 산출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권역별 예시 3건: 호 입력,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면적 빈칸, 지하층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강서구 화곡동·관악구·강남구에서 1건씩, 입력 조건을 다르게 골라 실제 출력을 옮겼습니다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4526280"/>
          </a:xfrm>
          <a:prstGeom prst="roundRect">
            <a:avLst>
              <a:gd name="adj" fmla="val 20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6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강서 화곡동 354-41</a:t>
            </a:r>
            <a:endParaRPr lang="ko-KR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 203호 · 34.01㎡</a:t>
            </a:r>
            <a:endParaRPr lang="ko-KR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34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2.41억</a:t>
            </a:r>
            <a:endParaRPr lang="ko-KR" alt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 범위 1.99 ~ 2.84억</a:t>
            </a:r>
            <a:endParaRPr lang="ko-KR" alt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0.83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8A89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ko-KR" alt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5196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 1.34억 × 실거래 배율 1.78(같은 건물 거래 2건 + 동네) = 2.38억, 건물 특징 보정 +1%</a:t>
            </a:r>
            <a:endParaRPr lang="ko-KR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4406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이 집의 최근 실거래를 빼고 계산했을 때 오차 −13.4%</a:t>
            </a:r>
            <a:endParaRPr lang="ko-KR" alt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2978" y="1600200"/>
            <a:ext cx="3545738" cy="4526280"/>
          </a:xfrm>
          <a:prstGeom prst="roundRect">
            <a:avLst>
              <a:gd name="adj" fmla="val 20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1578" y="1783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6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관악 봉천동 898-9</a:t>
            </a:r>
            <a:endParaRPr lang="ko-KR" alt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51578" y="21488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· 면적 빈칸</a:t>
            </a:r>
            <a:endParaRPr lang="ko-KR" alt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51578" y="2514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34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2.45억</a:t>
            </a:r>
            <a:endParaRPr lang="ko-KR" alt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3200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 범위 2.04 ~ 2.95억</a:t>
            </a:r>
            <a:endParaRPr lang="ko-KR" alt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51578" y="35204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0.83</a:t>
            </a:r>
            <a:endParaRPr lang="ko-KR" alt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51578" y="397764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8A89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ko-KR" alt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1578" y="425196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 1.28억 × 배율 1.88 = 2.40억, 보정 +2%. 빈 면적은 공시가격 자료(39.76㎡)로 채움</a:t>
            </a:r>
            <a:endParaRPr lang="ko-KR" alt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51578" y="54406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이 집의 최근 실거래를 빼고 계산했을 때 오차 +6.3%</a:t>
            </a:r>
            <a:endParaRPr lang="ko-KR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7317" y="1600200"/>
            <a:ext cx="3545738" cy="4526280"/>
          </a:xfrm>
          <a:prstGeom prst="roundRect">
            <a:avLst>
              <a:gd name="adj" fmla="val 20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5917" y="1783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6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일원동 661-1</a:t>
            </a:r>
            <a:endParaRPr lang="ko-KR" alt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25917" y="21488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· 49.08㎡</a:t>
            </a:r>
            <a:endParaRPr lang="ko-KR" alt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5917" y="2514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34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5.45억</a:t>
            </a:r>
            <a:endParaRPr lang="ko-KR" alt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8325917" y="3200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 범위 4.00 ~ 7.95억</a:t>
            </a:r>
            <a:endParaRPr lang="ko-KR" alt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35204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0.58</a:t>
            </a:r>
            <a:endParaRPr lang="ko-KR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25917" y="397764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8A89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ko-KR" alt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25917" y="425196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 2.05억 × 배율 2.42 = 4.96억, 보정 +10%. 지하·강남이라 신뢰도가 낮고 범위가 넓음</a:t>
            </a:r>
            <a:endParaRPr lang="ko-KR" alt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25917" y="54406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이 집의 최근 실거래를 빼고 계산했을 때 오차 −13.7%</a:t>
            </a:r>
            <a:endParaRPr lang="ko-KR" alt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8A89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출력의 근거 문장은 더 자세합니다(outputs/example_output.csv). 특정 물건의 답을 저장해 두는 방식은 쓰지 않았습니다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7  AI 활용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코드는 AI와 함께 작성했고,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방향과 검증은 제가 판단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했습니다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AI 도구는 Claude Code이며, AI의 결과는 실행 결과·원본 데이터·과제 원문과 대조한 뒤 반영했습니다</a:t>
            </a:r>
            <a:endParaRPr lang="ko-KR" alt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834640"/>
                <a:gridCol w="3017520"/>
              </a:tblGrid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AI가 한 일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제가 판단·결정한 것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과제 요약, 감정평가 방식을 모델에 연결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마감·기준일 해석, 같은 호의 과거 거래 활용 방식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API 응답 확인, 수집 코드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 범위 결정, 약관 문제 데이터 교체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다듬기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중복·표기·이상한 거래를 걸러 내는 규칙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제외 기준(낮은 이상치만 제외)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설계, 13가지 방법 비교, 신뢰도 계산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모델 비교 요구, 최종 모델·학습 3년 결정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결정 기록·그림·발표 자료 초안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공개 범위 결정, 최종 검토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675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</a:tblGrid>
              <a:tr h="32918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AI의 오류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방법 → 조치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지하철역 좌표를 저장 금지 서비스에서 받아 저장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약관 확인 → 공공데이터로 교체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거래의 26%를 이상 거래로 잘못 표시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 점검 → 기준 수정(0.4%)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엑셀(CP949) 입력 파일을 못 읽어 전체가 멈춤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과제 명령으로 실행 → 두 인코딩 처리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 없이 '3년 치만 수집'을 제안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F23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질문 → 6년 수집 후 검증으로 3년 결정</a:t>
                      </a:r>
                      <a:endParaRPr lang="ko-KR" alt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600200"/>
            <a:ext cx="4144975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266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작업 규칙을 문서로 관리</a:t>
            </a:r>
            <a:endParaRPr lang="ko-KR" alt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26680" y="2148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실제 실행 결과만 사용, 데이터 결합 때마다 건수 대조</a:t>
            </a:r>
            <a:endParaRPr lang="ko-KR" altLang="en-US" sz="12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결정마다 선택지와 근거 기록(24건), 직접 확인 후 반영(PR 20건)</a:t>
            </a:r>
            <a:endParaRPr lang="ko-KR" alt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498080" y="3611880"/>
            <a:ext cx="4144975" cy="2514600"/>
          </a:xfrm>
          <a:prstGeom prst="roundRect">
            <a:avLst>
              <a:gd name="adj" fmla="val 2909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266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없이 했다면</a:t>
            </a:r>
            <a:endParaRPr lang="ko-KR" alt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22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2.5～3.5개월</a:t>
            </a:r>
            <a:endParaRPr lang="ko-KR" alt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파이썬 5개월 차 기준 · 같은 범위 · 실제 소요 3일</a:t>
            </a:r>
            <a:endParaRPr lang="ko-KR" alt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4983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API·데이터 처리·검증 방법을 익히는 시간이 대부분입니다. AI는 구현 시간을 줄였고, 선택과 검증은 직접 했습니다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AVM  /  8  한계와 개선안</a:t>
            </a:r>
            <a:endParaRPr lang="ko-KR" alt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과제는 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사정이 있는 거래</a:t>
            </a:r>
            <a:pPr eaLnBrk="0" algn="l" indent="0" marL="0">
              <a:buNone/>
            </a:pPr>
            <a:r>
              <a:rPr lang="ko-KR" altLang="en-US" sz="2600" b="1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호 단위 정보입니다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개선하기 위해서는 데이터 자동 갱신과 성능의 지속적인 재검증이 필요합니다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EB683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ko-KR" alt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 간 거래·급매는 구별하지 못하고 신뢰도에도 반영하지 못함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비싼 집은 조금 낮게, 싼 집은 조금 높게 추정하는 경향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안에서는 위험 물건을 신뢰도로 충분히 구분하지 못함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실거래 자료에 호 정보가 없어, 호까지 넣은 입력의 정확도는 검증하지 못함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공시가격이 없는 집은 정확도가 낮아 신뢰도를 0.10으로 표시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갱신하지 않으면 1년 뒤 3～5% 낮게 추정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흐름은 3개월 평균이라 반응이 늦고, 신고가 덜 들어온 최근 2개월(9·10월)은 반영하지 못함</a:t>
            </a:r>
            <a:endParaRPr lang="ko-KR" alt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1B26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개선안</a:t>
            </a:r>
            <a:endParaRPr lang="ko-KR" alt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실거래가는 매월, 공시가격은 매년 자동 수집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거래로 매월 성능을 재측정하고, 기준 미달 시 재학습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사정이 있는 거래를 걸러 낼 추가 자료(등기부 등)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 단위 정보(방향·조망·내부 상태), 학교·공원·상권 거리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유사 거래를 근거로 함께 제시</a:t>
            </a:r>
            <a:endParaRPr lang="ko-KR" altLang="en-US" sz="1300" dirty="0"/>
          </a:p>
          <a:p>
            <a:pPr eaLnBrk="0"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F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모델을 미리 학습해 두고 요청마다 즉시 응답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다세대(빌라) 자동 시세 산정 모델</dc:title>
  <dc:subject>PptxGenJS Presentation</dc:subject>
  <dc:creator>김인석</dc:creator>
  <cp:lastModifiedBy>김인석</cp:lastModifiedBy>
  <cp:revision>1</cp:revision>
  <dcterms:created xsi:type="dcterms:W3CDTF">2026-10-08T14:59:29Z</dcterms:created>
  <dcterms:modified xsi:type="dcterms:W3CDTF">2026-10-08T14:59:29Z</dcterms:modified>
</cp:coreProperties>
</file>