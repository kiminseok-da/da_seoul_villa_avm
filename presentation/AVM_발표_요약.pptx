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eaLnBrk="0" algn="l" indent="0" marL="0">
              <a:buNone/>
            </a:pPr>
            <a:endParaRPr lang="ko-KR" alt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eaLnBrk="0" indent="0" marL="0">
              <a:buNone/>
            </a:pPr>
            <a:endParaRPr lang="ko-KR" alt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1002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64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null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46304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분석 과제 전형  |  제출 자료 요약본</a:t>
            </a:r>
            <a:endParaRPr lang="ko-KR" alt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01168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서울 다세대(빌라)</a:t>
            </a:r>
            <a:endParaRPr lang="ko-KR" altLang="en-US" sz="40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시세 산정 모델</a:t>
            </a:r>
            <a:endParaRPr lang="ko-KR" alt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31520" y="3977640"/>
            <a:ext cx="11155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지번·층·호를 넣으면 시세·범위·신뢰도·근거를 산출합니다  |  강서구 화곡동 · 관악구 · 강남구  |  기준일 2026-10-06(과제 안내일)</a:t>
            </a:r>
            <a:endParaRPr lang="ko-KR" alt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4526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9%</a:t>
            </a:r>
            <a:endParaRPr lang="ko-KR" alt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5074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가격과의 보통 오차</a:t>
            </a:r>
            <a:endParaRPr lang="ko-KR" alt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3200400" y="4526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79%</a:t>
            </a:r>
            <a:endParaRPr lang="ko-KR" altLang="en-US" sz="3000" dirty="0"/>
          </a:p>
        </p:txBody>
      </p:sp>
      <p:sp>
        <p:nvSpPr>
          <p:cNvPr id="8" name="Text 6"/>
          <p:cNvSpPr txBox="1"/>
          <p:nvPr/>
        </p:nvSpPr>
        <p:spPr>
          <a:xfrm>
            <a:off x="3200400" y="5074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가격 ±20% 안</a:t>
            </a:r>
            <a:endParaRPr lang="ko-KR" alt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4526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0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86%</a:t>
            </a:r>
            <a:endParaRPr lang="ko-KR" alt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5669280" y="5074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 초과 물건 적중률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138160" y="452628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0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0건</a:t>
            </a:r>
            <a:endParaRPr lang="ko-KR" alt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8138160" y="5074920"/>
            <a:ext cx="2286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표본 20건 실행 실패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56692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지원자 김인석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731520" y="603504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github.com/KimInSeok-DA/DA_Seoul_Villa_AVM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1  기술 스택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Python으로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수집부터 추정까지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구현했습니다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데이터는 공공데이터포털·VWorld 등 공공 API에서 직접 수집했습니다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언어</a:t>
            </a:r>
            <a:endParaRPr lang="ko-KR" alt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Python</a:t>
            </a:r>
            <a:endParaRPr lang="ko-KR" alt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수집·분석·실행을 한 언어로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데이터 처리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pandas · numpy</a:t>
            </a:r>
            <a:endParaRPr lang="ko-KR" alt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데이터 결합과 정제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2880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</a:t>
            </a:r>
            <a:endParaRPr lang="ko-KR" alt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4028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XGBoost · scikit-learn</a:t>
            </a:r>
            <a:endParaRPr lang="ko-KR" altLang="en-US" sz="20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88036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방법 비교 후 최종 모델 선정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데이터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공공데이터포털·VWorld</a:t>
            </a:r>
            <a:endParaRPr lang="ko-KR" altLang="en-US" sz="20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실거래가, 공시가격, 건축물대장, 좌표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시각화·기록</a:t>
            </a:r>
            <a:endParaRPr lang="ko-KR" alt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Jupyter·matplotlib·Git</a:t>
            </a:r>
            <a:endParaRPr lang="ko-KR" altLang="en-US" sz="20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분석 노트북, 그래프, 작업 이력 공개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977640"/>
            <a:ext cx="3545738" cy="2148840"/>
          </a:xfrm>
          <a:prstGeom prst="roundRect">
            <a:avLst>
              <a:gd name="adj" fmla="val 3404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4206240"/>
            <a:ext cx="29970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도구</a:t>
            </a:r>
            <a:endParaRPr lang="ko-KR" alt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617720"/>
            <a:ext cx="299709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Claude Code</a:t>
            </a:r>
            <a:endParaRPr lang="ko-KR" altLang="en-US" sz="20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5257800"/>
            <a:ext cx="299709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 작성·점검·문서화 보조(7번 항목)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2  데이터 소스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데이터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8가지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를 주소(지번) 기준으로 연결했습니다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건축물대장은 현행·말소, 코드는 법정동·행정동 각 2종이라 카드 6장에 8가지입니다. 다세대와 연립을 모두 포함했습니다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</a:t>
            </a:r>
            <a:endParaRPr lang="ko-KR" alt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거래 가격</a:t>
            </a:r>
            <a:endParaRPr lang="ko-KR" alt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2020-10 ~ 2026-10 매매 36,997건</a:t>
            </a:r>
            <a:endParaRPr lang="ko-KR" alt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322978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97298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</a:t>
            </a:r>
            <a:endParaRPr lang="ko-KR" alt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97298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정부가 매긴 호별 가격</a:t>
            </a:r>
            <a:endParaRPr lang="ko-KR" alt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597298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2026년, 107,236호</a:t>
            </a:r>
            <a:endParaRPr lang="ko-KR" alt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097317" y="160020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371637" y="180136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건축물대장(현행·말소)</a:t>
            </a:r>
            <a:endParaRPr lang="ko-KR" alt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371637" y="22860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사용승인일·승강기·층수, 철거 여부</a:t>
            </a:r>
            <a:endParaRPr lang="ko-KR" alt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71637" y="274320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9,928개 지번 + 말소 49,074지번</a:t>
            </a:r>
            <a:endParaRPr lang="ko-KR" alt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22960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필지 좌표·땅값</a:t>
            </a:r>
            <a:endParaRPr lang="ko-KR" altLang="en-US" sz="200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위치 좌표와 ㎡당 공시지가</a:t>
            </a:r>
            <a:endParaRPr lang="ko-KR" alt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822960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3개 구 123,615필지</a:t>
            </a:r>
            <a:endParaRPr lang="ko-KR" alt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322978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4597298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지하철역</a:t>
            </a:r>
            <a:endParaRPr lang="ko-KR" altLang="en-US" sz="2000" dirty="0"/>
          </a:p>
        </p:txBody>
      </p:sp>
      <p:sp>
        <p:nvSpPr>
          <p:cNvPr id="23" name="Text 21"/>
          <p:cNvSpPr txBox="1"/>
          <p:nvPr/>
        </p:nvSpPr>
        <p:spPr>
          <a:xfrm>
            <a:off x="4597298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가장 가까운 역까지 거리</a:t>
            </a:r>
            <a:endParaRPr lang="ko-KR" alt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4597298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275개 역</a:t>
            </a:r>
            <a:endParaRPr lang="ko-KR" alt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097317" y="3611880"/>
            <a:ext cx="3545738" cy="1783080"/>
          </a:xfrm>
          <a:prstGeom prst="roundRect">
            <a:avLst>
              <a:gd name="adj" fmla="val 410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371637" y="3813048"/>
            <a:ext cx="299709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0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법정동·행정동 코드</a:t>
            </a:r>
            <a:endParaRPr lang="ko-KR" altLang="en-US" sz="2000" dirty="0"/>
          </a:p>
        </p:txBody>
      </p:sp>
      <p:sp>
        <p:nvSpPr>
          <p:cNvPr id="27" name="Text 25"/>
          <p:cNvSpPr txBox="1"/>
          <p:nvPr/>
        </p:nvSpPr>
        <p:spPr>
          <a:xfrm>
            <a:off x="8371637" y="42976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주소를 고유번호(PNU)로 변환</a:t>
            </a:r>
            <a:endParaRPr lang="ko-KR" alt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371637" y="4754880"/>
            <a:ext cx="299709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30개 법정동, 행정동 63개 연결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566928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좌표는 지도 서비스(Kakao 등) 대신 정부 연속지적도에서 받았습니다. 지도 서비스는 약관상 결과를 저장할 수 없기 때문입니다.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3  시세 요인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정보와 제외한 정보: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주소와 층으로 알 수 있는 것만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사용했습니다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 시점에 알 수 없는 정보(예: 직거래 여부)는 가격에 영향이 커도 사용할 수 없습니다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정보</a:t>
            </a:r>
            <a:endParaRPr lang="ko-KR" alt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공시가격, 동네 실거래 배율, 시기별 시세 변화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 · 층(지하·꼭대기 층 여부) · 건물 층수 · 전용면적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승강기 · 세대수 · 세대당 주차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지하철역 거리 · 땅값 · 위치(좌표) · 지역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머신러닝 중요도가 높은 정보: 연식 · 지역 · 층 · 건물 층수 · 면적 · 위치</a:t>
            </a:r>
            <a:endParaRPr lang="ko-KR" alt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3657600"/>
          </a:xfrm>
          <a:prstGeom prst="roundRect">
            <a:avLst>
              <a:gd name="adj" fmla="val 2000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제외한 정보와 이유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여부, 매도·매수인 정보: 추정 시점에 알 수 없음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전월세: 전세금은 매매가와 성격이 다름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건축년도: 연식과 중복 / 동 수: 세대수와 거의 중복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건물 구조: 90%가 철근콘크리트라 구별력이 없음</a:t>
            </a:r>
            <a:endParaRPr lang="ko-KR" altLang="en-US" sz="14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학교·공원 거리: 기간 내 반영하지 못함(개선안)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4  모델 설계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주소 한 줄이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시세·범위·신뢰도·근거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 되는 과정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실행할 때마다 저장된 거래로 다시 계산하므로, 새 거래를 정제 데이터에 추가하고 다시 실행하면 반영됩니다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31520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입력</a:t>
            </a:r>
            <a:endParaRPr lang="ko-KR" alt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구·동·지번·층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호·면적(빈칸 허용)</a:t>
            </a:r>
            <a:endParaRPr lang="ko-KR" alt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0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401568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3584448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② 주소 확인</a:t>
            </a:r>
            <a:endParaRPr lang="ko-KR" alt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584448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고유번호(PNU)로 변환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 밖이면 사유와 함께 실패 처리</a:t>
            </a:r>
            <a:endParaRPr lang="ko-KR" alt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961888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6254496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437376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③ 공시가격 찾기</a:t>
            </a:r>
            <a:endParaRPr lang="ko-KR" alt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37376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수집 데이터에 없으면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실행 중 공공 API 조회</a:t>
            </a:r>
            <a:endParaRPr lang="ko-KR" alt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8814816" y="2354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9107424" y="1691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9290304" y="1801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④ 기본 추정</a:t>
            </a:r>
            <a:endParaRPr lang="ko-KR" alt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90304" y="2194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× 실거래 배율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(같은 건물 거래 우선)</a:t>
            </a:r>
            <a:endParaRPr lang="ko-KR" alt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9107424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290304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 머신러닝 보정</a:t>
            </a:r>
            <a:endParaRPr lang="ko-KR" alt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290304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연식·층·위치 등으로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기본 추정 보정</a:t>
            </a:r>
            <a:endParaRPr lang="ko-KR" alt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814816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4" name="Shape 22"/>
          <p:cNvSpPr/>
          <p:nvPr/>
        </p:nvSpPr>
        <p:spPr>
          <a:xfrm>
            <a:off x="6254496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437376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⑥ 추정값</a:t>
            </a:r>
            <a:endParaRPr lang="ko-KR" alt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보정한 두 값의 평균</a:t>
            </a:r>
            <a:endParaRPr lang="ko-KR" alt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5961888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28" name="Shape 26"/>
          <p:cNvSpPr/>
          <p:nvPr/>
        </p:nvSpPr>
        <p:spPr>
          <a:xfrm>
            <a:off x="3401568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EB6834"/>
          </a:solidFill>
          <a:ln w="12700">
            <a:solidFill>
              <a:srgbClr val="EB683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3584448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⑦ 범위·신뢰도</a:t>
            </a:r>
            <a:endParaRPr lang="ko-KR" alt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3584448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비슷한 물건의 과거 오차로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범위·신뢰도 산출</a:t>
            </a:r>
            <a:endParaRPr lang="ko-KR" alt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108960" y="4640580"/>
            <a:ext cx="246888" cy="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headEnd type="triangle"/>
          </a:ln>
        </p:spPr>
      </p:sp>
      <p:sp>
        <p:nvSpPr>
          <p:cNvPr id="32" name="Shape 30"/>
          <p:cNvSpPr/>
          <p:nvPr/>
        </p:nvSpPr>
        <p:spPr>
          <a:xfrm>
            <a:off x="548640" y="3977640"/>
            <a:ext cx="2514600" cy="1325880"/>
          </a:xfrm>
          <a:prstGeom prst="roundRect">
            <a:avLst>
              <a:gd name="adj" fmla="val 5517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31520" y="4087368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⑧ 출력</a:t>
            </a:r>
            <a:endParaRPr lang="ko-KR" altLang="en-US" sz="1500" dirty="0"/>
          </a:p>
        </p:txBody>
      </p:sp>
      <p:sp>
        <p:nvSpPr>
          <p:cNvPr id="34" name="Text 32"/>
          <p:cNvSpPr txBox="1"/>
          <p:nvPr/>
        </p:nvSpPr>
        <p:spPr>
          <a:xfrm>
            <a:off x="731520" y="4480560"/>
            <a:ext cx="2148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추정·하한·상한·신뢰도</a:t>
            </a:r>
            <a:endParaRPr lang="ko-KR" altLang="en-US" sz="1200" dirty="0"/>
          </a:p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 한 줄</a:t>
            </a:r>
            <a:endParaRPr lang="ko-KR" alt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10364724" y="3063240"/>
            <a:ext cx="0" cy="868680"/>
          </a:xfrm>
          <a:prstGeom prst="line">
            <a:avLst/>
          </a:prstGeom>
          <a:noFill/>
          <a:ln w="19050">
            <a:solidFill>
              <a:srgbClr val="8A8984"/>
            </a:solidFill>
            <a:prstDash val="solid"/>
            <a:tailEnd type="triangle"/>
          </a:ln>
        </p:spPr>
      </p:sp>
      <p:sp>
        <p:nvSpPr>
          <p:cNvPr id="36" name="Text 34"/>
          <p:cNvSpPr txBox="1"/>
          <p:nvPr/>
        </p:nvSpPr>
        <p:spPr>
          <a:xfrm>
            <a:off x="548640" y="562356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⑤의 두 값은 건물 특징만으로 직접 낸 가격과, ④가 빗나갈 정도를 예측해 고친 가격입니다. 장단점이 달라 두 값의 평균을 씁니다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5  자체 검증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학습에 쓰지 않은 632개 건물로 검증: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 9%, 10건 중 8건이 ±20% 안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1년 거래가 있는 건물 3,159개 중 632개를 미리 떼어 두고, 건물마다 가장 최근 거래가를 맞혔습니다</a:t>
            </a:r>
            <a:endParaRPr lang="ko-KR" alt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94944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325880"/>
                <a:gridCol w="1234440"/>
                <a:gridCol w="1234440"/>
                <a:gridCol w="1234440"/>
              </a:tblGrid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상황(632건)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보통 오차(중앙값)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MAPE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±20% 적중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80% 범위 포함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처음 보는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9.4%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78.5%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82.9%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과거 거래가 있는 건물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8.6%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13.0%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b="1" dirty="0">
                          <a:solidFill>
                            <a:srgbClr val="1B264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80.1%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AF6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80.7%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(비교) 기본 추정만 사용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11.1% / 10.7%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15.8% / 14.7%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71.7% / 73.9%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2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69.8% / 67.7%</a:t>
                      </a:r>
                      <a:endParaRPr lang="ko-KR" altLang="en-US" sz="12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7772400" y="1600200"/>
            <a:ext cx="3870655" cy="1828800"/>
          </a:xfrm>
          <a:prstGeom prst="roundRect">
            <a:avLst>
              <a:gd name="adj" fmla="val 4000"/>
            </a:avLst>
          </a:prstGeom>
          <a:solidFill>
            <a:srgbClr val="1B2640"/>
          </a:solidFill>
          <a:ln w="12700">
            <a:solidFill>
              <a:srgbClr val="1B264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01000" y="173736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신뢰도가 높을수록 오차가 작음</a:t>
            </a:r>
            <a:endParaRPr lang="ko-KR" alt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001000" y="2103120"/>
            <a:ext cx="3474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보통 오차 17% → 7%</a:t>
            </a:r>
            <a:endParaRPr lang="ko-KR" alt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8001000" y="2697480"/>
            <a:ext cx="3474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C9D3E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0.6 이하 → 0.8 초과, ±20% 적중 62% → 86%</a:t>
            </a:r>
            <a:endParaRPr lang="ko-KR" alt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6576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오차가 컸던 사례와 원인</a:t>
            </a:r>
            <a:endParaRPr lang="ko-KR" altLang="en-US" sz="14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023360"/>
          <a:ext cx="694944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005840"/>
                <a:gridCol w="914400"/>
                <a:gridCol w="731520"/>
                <a:gridCol w="2194560"/>
              </a:tblGrid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물건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실거래가*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추정 원인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강남 청담동 37.2㎡ 2층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3.89억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7.41억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+91%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공시가격보다 싸게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관악 봉천동 60.09㎡ 3층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2.10억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3.82억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+82%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강서 화곡동 30.00㎡ 7층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1.24억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2.19억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+76%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직거래, 공시가격보다 싸게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Shape 8"/>
          <p:cNvSpPr/>
          <p:nvPr/>
        </p:nvSpPr>
        <p:spPr>
          <a:xfrm>
            <a:off x="7772400" y="3657600"/>
            <a:ext cx="3870655" cy="2286000"/>
          </a:xfrm>
          <a:prstGeom prst="roundRect">
            <a:avLst>
              <a:gd name="adj" fmla="val 32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3" name="Text 9"/>
          <p:cNvSpPr txBox="1"/>
          <p:nvPr/>
        </p:nvSpPr>
        <p:spPr>
          <a:xfrm>
            <a:off x="8001000" y="3840480"/>
            <a:ext cx="34290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±20%를 벗어난 126건 중 78%가 공시가격 대비 유난히 싸거나 비싸게 거래된 집이었습니다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오차 상위 15건 중 11건이 직거래로, 거래 사정은 주소만으로 알 수 없어 한계로 정리했습니다</a:t>
            </a:r>
            <a:endParaRPr lang="ko-KR" alt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* 기준일 환산 실거래가 · 면적 입력 기준, 비교 행은 처음 보는 건물 / 과거 거래가 있는 건물 · 상세는 본편 13～16장과 부록 C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6  예시 산출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권역별 예시 3건: 호 입력,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면적 빈칸, 지하층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강서구 화곡동·관악구·강남구에서 1건씩, 입력 조건을 다르게 골라 실제 출력을 옮겼습니다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강서 화곡동 354-41</a:t>
            </a:r>
            <a:endParaRPr lang="ko-KR" alt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2층 203호 · 34.01㎡</a:t>
            </a:r>
            <a:endParaRPr lang="ko-KR" alt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2.41억</a:t>
            </a:r>
            <a:endParaRPr lang="ko-KR" altLang="en-US" sz="340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1.99 ~ 2.84억</a:t>
            </a:r>
            <a:endParaRPr lang="ko-KR" alt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0.83</a:t>
            </a:r>
            <a:endParaRPr lang="ko-KR" alt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1.34억 × 실거래 배율 1.78(같은 건물 거래 2건 + 동네) = 2.38억, 건물 특징 보정 +1%</a:t>
            </a:r>
            <a:endParaRPr lang="ko-KR" alt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−13.4%</a:t>
            </a:r>
            <a:endParaRPr lang="ko-KR" alt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322978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51578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관악 봉천동 898-9</a:t>
            </a:r>
            <a:endParaRPr lang="ko-KR" alt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551578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3층 · 면적 빈칸</a:t>
            </a:r>
            <a:endParaRPr lang="ko-KR" alt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551578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2.45억</a:t>
            </a:r>
            <a:endParaRPr lang="ko-KR" alt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4551578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2.04 ~ 2.95억</a:t>
            </a:r>
            <a:endParaRPr lang="ko-KR" alt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551578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0.83</a:t>
            </a:r>
            <a:endParaRPr lang="ko-KR" alt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4551578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51578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1.28억 × 배율 1.88 = 2.40억, 보정 +2%. 빈 면적은 공시가격 자료(39.76㎡)로 채움</a:t>
            </a:r>
            <a:endParaRPr lang="ko-KR" alt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51578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+6.3%</a:t>
            </a:r>
            <a:endParaRPr lang="ko-KR" alt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8097317" y="1600200"/>
            <a:ext cx="3545738" cy="4526280"/>
          </a:xfrm>
          <a:prstGeom prst="roundRect">
            <a:avLst>
              <a:gd name="adj" fmla="val 2063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25917" y="1783080"/>
            <a:ext cx="308853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6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일원동 661-1</a:t>
            </a:r>
            <a:endParaRPr lang="ko-KR" altLang="en-US" sz="1600" dirty="0"/>
          </a:p>
        </p:txBody>
      </p:sp>
      <p:sp>
        <p:nvSpPr>
          <p:cNvPr id="25" name="Text 23"/>
          <p:cNvSpPr txBox="1"/>
          <p:nvPr/>
        </p:nvSpPr>
        <p:spPr>
          <a:xfrm>
            <a:off x="8325917" y="21488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지하 1층 · 49.08㎡</a:t>
            </a:r>
            <a:endParaRPr lang="ko-KR" alt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8325917" y="2514600"/>
            <a:ext cx="308853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34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5.45억</a:t>
            </a:r>
            <a:endParaRPr lang="ko-KR" altLang="en-US" sz="3400" dirty="0"/>
          </a:p>
        </p:txBody>
      </p:sp>
      <p:sp>
        <p:nvSpPr>
          <p:cNvPr id="27" name="Text 25"/>
          <p:cNvSpPr txBox="1"/>
          <p:nvPr/>
        </p:nvSpPr>
        <p:spPr>
          <a:xfrm>
            <a:off x="8325917" y="320040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80% 범위 4.00 ~ 7.95억</a:t>
            </a:r>
            <a:endParaRPr lang="ko-KR" alt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8325917" y="3520440"/>
            <a:ext cx="30885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3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신뢰도 0.58</a:t>
            </a:r>
            <a:endParaRPr lang="ko-KR" alt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8325917" y="3977640"/>
            <a:ext cx="308853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근거</a:t>
            </a:r>
            <a:endParaRPr lang="ko-KR" alt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8325917" y="4251960"/>
            <a:ext cx="308853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 2.05억 × 배율 2.42 = 4.96억, 보정 +10%. 지하·강남이라 신뢰도가 낮고 범위가 넓음</a:t>
            </a:r>
            <a:endParaRPr lang="ko-KR" alt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8325917" y="5440680"/>
            <a:ext cx="308853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참고: 이 집의 최근 실거래를 빼고 계산했을 때 오차 −13.7%</a:t>
            </a:r>
            <a:endParaRPr lang="ko-KR" alt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548640" y="6355080"/>
            <a:ext cx="101800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000" dirty="0">
                <a:solidFill>
                  <a:srgbClr val="8A898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실제 출력의 근거 문장은 더 자세합니다(outputs/example_output.csv). 특정 물건의 답을 저장해 두는 방식은 쓰지 않았습니다</a:t>
            </a:r>
            <a:endParaRPr lang="ko-KR" alt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7  AI 활용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코드는 AI와 함께 작성했고,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방향과 검증은 제가 판단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했습니다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사용한 AI 도구는 Claude Code이며, AI의 결과는 실행 결과·원본 데이터·과제 원문과 대조한 뒤 반영했습니다</a:t>
            </a:r>
            <a:endParaRPr lang="ko-KR" alt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6675120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2834640"/>
                <a:gridCol w="3017520"/>
              </a:tblGrid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단계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AI가 한 일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제가 판단·결정한 것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설계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요약, 감정평가 방식을 모델에 연결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마감·기준일 해석, 검증 물건의 과거 거래도 일반 비교사례로 사용(특정 물건 분기 금지)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정부 API 응답 확인, 수집 코드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수집 범위 결정, 약관 문제 데이터 교체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다듬기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중복·표기·이상한 거래를 걸러 내는 규칙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제외 기준(낮은 이상치만 제외)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모델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검증 설계, 13가지 방법 비교, 신뢰도 계산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여러 모델 비교 요구, 최종 모델·학습 3년 결정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문서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결정 기록·그림·발표 자료 초안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공개 범위 결정, 최종 검토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526280"/>
          <a:ext cx="667512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3108960"/>
              </a:tblGrid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AI의 오류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b="1" dirty="0">
                          <a:solidFill>
                            <a:srgbClr val="FFFFFF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확인 방법 → 조치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C3A5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지하철역 좌표를 저장 금지 서비스에서 받아 저장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약관 확인 → 공공데이터로 교체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정상 거래의 26%를 이상 거래로 잘못 표시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수치 점검 → 기준 수정(0.4%)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엑셀(CP949) 입력 파일을 못 읽어 전체가 멈춤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과제 명령으로 실행 → 두 인코딩 처리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근거 없이 '3년 치만 수집'을 제안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pPr eaLnBrk="0" indent="0" marL="0">
                        <a:buNone/>
                      </a:pPr>
                      <a:r>
                        <a:rPr lang="ko-KR" altLang="en-US" sz="1100" dirty="0">
                          <a:solidFill>
                            <a:srgbClr val="1F2328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직접 질문 → 6년 수집 후 검증으로 3년 결정</a:t>
                      </a:r>
                      <a:endParaRPr lang="ko-KR" altLang="en-US" sz="11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76200" marR="76200" marT="38100" marB="38100" anchor="ctr">
                    <a:lnL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C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7" name="Shape 3"/>
          <p:cNvSpPr/>
          <p:nvPr/>
        </p:nvSpPr>
        <p:spPr>
          <a:xfrm>
            <a:off x="7498080" y="1600200"/>
            <a:ext cx="4144975" cy="1828800"/>
          </a:xfrm>
          <a:prstGeom prst="roundRect">
            <a:avLst>
              <a:gd name="adj" fmla="val 4000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8" name="Text 4"/>
          <p:cNvSpPr txBox="1"/>
          <p:nvPr/>
        </p:nvSpPr>
        <p:spPr>
          <a:xfrm>
            <a:off x="7726680" y="1737360"/>
            <a:ext cx="3840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작업 규칙을 문서로 관리</a:t>
            </a:r>
            <a:endParaRPr lang="ko-KR" alt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7726680" y="2148840"/>
            <a:ext cx="37490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수치는 실제 실행 결과만 사용, 데이터 결합 때마다 건수 대조</a:t>
            </a:r>
            <a:endParaRPr lang="ko-KR" altLang="en-US" sz="12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결정마다 선택지와 근거 기록(24건), 직접 확인 후 반영(PR 20건 이상)</a:t>
            </a:r>
            <a:endParaRPr lang="ko-KR" altLang="en-US" sz="1200" dirty="0"/>
          </a:p>
        </p:txBody>
      </p:sp>
      <p:sp>
        <p:nvSpPr>
          <p:cNvPr id="10" name="Shape 6"/>
          <p:cNvSpPr/>
          <p:nvPr/>
        </p:nvSpPr>
        <p:spPr>
          <a:xfrm>
            <a:off x="7498080" y="3611880"/>
            <a:ext cx="4144975" cy="2514600"/>
          </a:xfrm>
          <a:prstGeom prst="roundRect">
            <a:avLst>
              <a:gd name="adj" fmla="val 2909"/>
            </a:avLst>
          </a:prstGeom>
          <a:solidFill>
            <a:srgbClr val="FBEDE7"/>
          </a:solidFill>
          <a:ln w="12700">
            <a:solidFill>
              <a:srgbClr val="FBEDE7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7726680" y="3749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4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AI 없이 했다면</a:t>
            </a:r>
            <a:endParaRPr lang="ko-KR" alt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7726680" y="411480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22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약 2.5～3.5개월</a:t>
            </a:r>
            <a:endParaRPr lang="ko-KR" altLang="en-US" sz="2200" dirty="0"/>
          </a:p>
        </p:txBody>
      </p:sp>
      <p:sp>
        <p:nvSpPr>
          <p:cNvPr id="13" name="Text 9"/>
          <p:cNvSpPr txBox="1"/>
          <p:nvPr/>
        </p:nvSpPr>
        <p:spPr>
          <a:xfrm>
            <a:off x="7726680" y="461772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1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본인 추정 · 파이썬 5개월 차 기준 · 같은 범위 · 실제 소요 3일</a:t>
            </a:r>
            <a:endParaRPr lang="ko-KR" alt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7726680" y="4983480"/>
            <a:ext cx="3749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2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공공 API·데이터 처리·검증 방법을 익히는 시간이 대부분입니다. AI는 구현 시간을 줄였고, 선택과 검증은 직접 했습니다</a:t>
            </a:r>
            <a:endParaRPr lang="ko-KR" alt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548640" y="10972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eaLnBrk="0" indent="0" marL="0">
              <a:buNone/>
            </a:pPr>
            <a:r>
              <a:rPr lang="ko-KR" altLang="en-US" sz="11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AVM  /  8  한계와 개선안</a:t>
            </a:r>
            <a:endParaRPr lang="ko-KR" altLang="en-US" sz="11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320040"/>
            <a:ext cx="1109441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과제는 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사정이 있는 거래</a:t>
            </a:r>
            <a:pPr eaLnBrk="0" algn="l" indent="0" marL="0">
              <a:buNone/>
            </a:pPr>
            <a:r>
              <a:rPr lang="ko-KR" altLang="en-US" sz="2600" b="1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와 호 단위 정보입니다</a:t>
            </a:r>
            <a:endParaRPr lang="ko-KR" alt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024128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500" dirty="0">
                <a:solidFill>
                  <a:srgbClr val="52514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개선하기 위해서는 데이터 자동 갱신과 성능의 지속적인 재검증이 필요합니다</a:t>
            </a:r>
            <a:endParaRPr lang="ko-KR" alt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1600200"/>
            <a:ext cx="5410048" cy="4343400"/>
          </a:xfrm>
          <a:prstGeom prst="roundRect">
            <a:avLst>
              <a:gd name="adj" fmla="val 168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22960" y="17373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EB6834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한계</a:t>
            </a:r>
            <a:endParaRPr lang="ko-KR" alt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240280"/>
            <a:ext cx="486140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직거래 등 사정이 있는 거래는 구별하지 못하고 신뢰도에도 반영하지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비싼 집은 조금 낮게, 싼 집은 조금 높게 추정하는 경향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강남 안에서는 위험 물건을 신뢰도로 충분히 구분하지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 자료에 호 정보가 없어, 호까지 넣은 입력의 정확도는 검증하지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공시가격이 없는 집은 정확도가 낮아 신뢰도를 0.10으로 표시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갱신하지 않으면 1년 뒤 3～5% 낮게 추정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시세 흐름은 3개월 평균이라 반응이 늦고, 신고가 덜 들어온 최근 2개월(9·10월)은 반영하지 못함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하우스머치 참고 비교 9건에서는 하우스머치가 실거래가에 더 가까웠음</a:t>
            </a:r>
            <a:endParaRPr lang="ko-KR" alt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600200"/>
            <a:ext cx="5410048" cy="4343400"/>
          </a:xfrm>
          <a:prstGeom prst="roundRect">
            <a:avLst>
              <a:gd name="adj" fmla="val 1684"/>
            </a:avLst>
          </a:prstGeom>
          <a:solidFill>
            <a:srgbClr val="F2F4F8"/>
          </a:solidFill>
          <a:ln w="12700">
            <a:solidFill>
              <a:srgbClr val="F2F4F8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07328" y="17373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lnSpc>
                <a:spcPct val="120000"/>
              </a:lnSpc>
              <a:buNone/>
            </a:pPr>
            <a:r>
              <a:rPr lang="ko-KR" altLang="en-US" sz="1800" b="1" dirty="0">
                <a:solidFill>
                  <a:srgbClr val="1B264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개선안</a:t>
            </a:r>
            <a:endParaRPr lang="ko-KR" alt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240280"/>
            <a:ext cx="4861408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실거래가는 매월, 공시가격은 매년 자동 수집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새 거래로 매월 성능을 재측정하고, 기준 미달 시 재학습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사정이 있는 거래를 걸러 낼 추가 자료(등기부 등)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호 단위 정보(방향·조망·내부 상태), 학교·공원·상권 거리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주변 유사 거래를 근거로 함께 제시</a:t>
            </a:r>
            <a:endParaRPr lang="ko-KR" altLang="en-US" sz="1300" dirty="0"/>
          </a:p>
          <a:p>
            <a:pPr eaLnBrk="0"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00" dirty="0">
                <a:solidFill>
                  <a:srgbClr val="1F232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모델을 미리 학습해 두고 요청마다 즉시 응답</a:t>
            </a:r>
            <a:endParaRPr lang="ko-KR" alt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77295" y="644652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8A8984"/>
                </a:solidFill>
                <a:latin typeface="Pretendard"/>
                <a:ea typeface="Pretendard"/>
                <a:cs typeface="Pretendard"/>
              </a:defRPr>
            </a:lvl1pPr>
          </a:lstStyle>
          <a:p>
            <a:pPr eaLnBrk="0" algn="r"/>
            <a:fld id="{F7021451-1387-4CA6-816F-3879F97B5CBC}" type="slidenum">
              <a:rPr b="0" lang="ko-KR" altLang="en-US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Pretendar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Pretendar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서울 다세대(빌라) 자동 시세 산정 모델</dc:title>
  <dc:subject>PptxGenJS Presentation</dc:subject>
  <dc:creator>김인석</dc:creator>
  <cp:lastModifiedBy>김인석</cp:lastModifiedBy>
  <cp:revision>1</cp:revision>
  <dcterms:created xsi:type="dcterms:W3CDTF">2026-10-09T00:35:48Z</dcterms:created>
  <dcterms:modified xsi:type="dcterms:W3CDTF">2026-10-09T00:35:48Z</dcterms:modified>
</cp:coreProperties>
</file>