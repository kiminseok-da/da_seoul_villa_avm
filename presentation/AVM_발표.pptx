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2514E"/>
                </a:solidFill>
                <a:latin typeface="+mn-lt"/>
              </a:rPr>
              <a:t>±20% 안에 맞힌 비율(같은 건물 거래가 있는 경우, 방법별 최고)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±20% 적중률</c:v>
                </c:pt>
              </c:strCache>
            </c:strRef>
          </c:tx>
          <c:spPr>
            <a:solidFill>
              <a:srgbClr val="9FB4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64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기본 추정만</c:v>
                  </c:pt>
                  <c:pt idx="1">
                    <c:v>선형 회귀</c:v>
                  </c:pt>
                  <c:pt idx="2">
                    <c:v>비슷한 거래 평균</c:v>
                  </c:pt>
                  <c:pt idx="3">
                    <c:v>랜덤포레스트</c:v>
                  </c:pt>
                  <c:pt idx="4">
                    <c:v>XGBoost(선택)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73.7</c:v>
                </c:pt>
                <c:pt idx="1">
                  <c:v>73.7</c:v>
                </c:pt>
                <c:pt idx="2">
                  <c:v>77.1</c:v>
                </c:pt>
                <c:pt idx="3">
                  <c:v>77.2</c:v>
                </c:pt>
                <c:pt idx="4">
                  <c:v>78.6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52514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"/>
          <c:min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시세 산정 모델(AVM)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주소와 층만 넣으면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빌라 시세를 알려 주는 모델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강서구 화곡동 · 관악구 · 강남구의 다세대·연립주택  |  기준일 2026-10-06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김인석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github.com/KimInSeok-DA/DA_Seoul_Villa_AVM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집값에서 출발해, 건물 특징으로 다듬었다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추정은 실제 거래가와 보통 9% 정도 차이 나고, 10건 중 8건은 ±20% 안에 들어온다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가격과의 보통 차이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 ±20% 안에 든 비율(10건 중 8건)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86%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0.87이라 한 물건이 실제로 맞은 비율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5256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8116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17초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20건 계산(기준 30분 이내)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모으기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6년치 실거래에서 문제 거래를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빼고 최근 3년 1만 4천 건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추정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× 그 동네에서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거래된 배율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 보정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연식·층·승강기·위치처럼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덜 반영한 것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05256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5256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정도 계산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범위와 신뢰도를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오차로 계산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2120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틀린 경우는 대부분 가족 간 거래·급매처럼 시세와 다르게 거래된 집이었다. 이런 사정은 주소만으로 알 수 없어 한계로 남겼고, 지하층·오래된 건물처럼 미리 알 수 있는 위험은 신뢰도를 낮춰 표시한다.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발표에 나오는 숫자 네 가지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화곡동 빌라 1채를 넣으면 이렇게 나온다 — 추정 2.43억, 범위 1.97억 ~ 2.98억, 신뢰도 0.80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423160"/>
            <a:ext cx="10332720" cy="0"/>
          </a:xfrm>
          <a:prstGeom prst="line">
            <a:avLst/>
          </a:prstGeom>
          <a:noFill/>
          <a:ln w="19050">
            <a:solidFill>
              <a:srgbClr val="D9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74290" y="2240280"/>
            <a:ext cx="6957365" cy="365760"/>
          </a:xfrm>
          <a:prstGeom prst="roundRect">
            <a:avLst>
              <a:gd name="adj" fmla="val 50000"/>
            </a:avLst>
          </a:prstGeom>
          <a:solidFill>
            <a:srgbClr val="CADBF3"/>
          </a:solidFill>
          <a:ln w="12700">
            <a:solidFill>
              <a:srgbClr val="CADB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96686" y="2276856"/>
            <a:ext cx="292608" cy="292608"/>
          </a:xfrm>
          <a:prstGeom prst="ellipse">
            <a:avLst/>
          </a:prstGeom>
          <a:solidFill>
            <a:srgbClr val="1B26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859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2.43억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22565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1.97억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83014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2.98억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오차율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추정이 실제 거래가와 몇 % 다른지. 여러 건의 가운데 값(중앙값)을 쓴다 — 이 모델은 약 9%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79394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7994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±20% 적중률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07994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가격의 20% 위아래 안에 든 추정의 비율. 3억짜리 집이면 2.4억~3.6억 — 이 모델은 10건 중 8건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0148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8748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38748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막대처럼 하한~상한. 실제 가격이 10번 중 8번은 이 안에 들어오도록 계산 — 실제로 78~82%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40901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69501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신뢰도(0~1)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269501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추정이 ±20% 안에 들 가능성. 0.8이면 비슷한 물건 10건 중 8건이 맞았다는 뜻 — 낮을수록 조심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기술 스택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Python으로 데이터를 모으고, 기계학습으로 추정했다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데이터는 정부 공공 API에서 직접 받았고, 상용 시세 서비스는 쓰지 않았다(버전·라이브러리 상세는 부록)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수집부터 실행까지 한 언어로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pandas · numpy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형태의 데이터를 합치고 다듬기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· scikit-learn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방법을 비교하고 가장 나은 것 선택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데이터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공공데이터포털·VWorld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실거래가, 공시가격, 건축물대장, 좌표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시각화·기록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Jupyter·matplotlib·Git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노트북, 그림, 작업 이력 공개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도구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코드·점검·문서화를 함께(7번)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데이터 소스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공개한 데이터 8가지를 주소(지번)로 하나로 묶었다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데이터가 알려 주는 것 — 다세대와 연립을 모두 포함했다(건수·기간 상세는 부록)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얼마에 팔렸나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2020-10 ~ 2026-10 매매 36,997건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호별 가격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2026년, 107,236호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지었나, 승강기·층수·세대수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9,928개 건물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필지 좌표·땅값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있나, 땅값은 얼마인가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구 123,615필지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역에서 얼마나 먼가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275개 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법정동·행정동 코드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주소를 고유번호로 바꾸기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법정동, 행정동 63개 연결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전월세 거래 14만 건도 받았지만 전세금은 매매가와 같지 않아 쓰지 않았다. 지도 서비스(Kakao 등)는 결과를 저장하면 안 되는 약관이라 정부 지적도에서 좌표를 받았다.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데이터 다듬기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수 없는 거래는 빼고, 최근 3년만 썼다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취소된 계약, 가족 간 거래처럼 시세와 다른 가격, 헐린 옛 건물의 거래를 걸러 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36,997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160020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매매 거래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59152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5915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−2,188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235915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계약이 취소된 거래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118104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−331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311810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공시가격보다 지나치게 싼 거래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(가족 간 거래 등으로 의심)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7705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−592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3877056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재건축 전 옛 건물의 거래,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집을 한꺼번에 판 거래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36008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636008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33,886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46360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다듬은 거래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9496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39496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14,520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539496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쓴 최근 3년</a:t>
            </a:r>
            <a:endParaRPr lang="en-US" sz="1200" dirty="0"/>
          </a:p>
        </p:txBody>
      </p:sp>
      <p:pic>
        <p:nvPicPr>
          <p:cNvPr id="23" name="Image 0" descr="C:\DA_WorkSpace\DA_Seoul_Villa_AVM\outputs\figures\eda_A1_monthly_vol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29149"/>
            <a:ext cx="6903720" cy="2822461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937760" y="470916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거래량은 2021년에 가장 많았다가 2023년까지 크게 줄었다 — 시장 분위기가 달라 오래된 거래는 오늘 시세와 잘 맞지 않는다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3년·5년·6년을 같은 시험으로 비교했더니 최근 3년만 쓸 때 가장 정확했다(처음 보는 건물 기준 10건 중 7.5건 → 8건 적중)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공시가격만 알아도 실제 가격 차이의 87%가 설명된다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공시가격을 출발점으로 삼았다 — 실제 거래가는 보통 공시가격의 1.76배</a:t>
            </a:r>
            <a:endParaRPr lang="en-US" sz="1500" dirty="0"/>
          </a:p>
        </p:txBody>
      </p:sp>
      <p:pic>
        <p:nvPicPr>
          <p:cNvPr id="5" name="Image 0" descr="C:\DA_WorkSpace\DA_Seoul_Villa_AVM\outputs\figures\eda_B1_price_vs_publ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4694"/>
            <a:ext cx="4572000" cy="4288692"/>
          </a:xfrm>
          <a:prstGeom prst="rect">
            <a:avLst/>
          </a:prstGeom>
        </p:spPr>
      </p:pic>
      <p:pic>
        <p:nvPicPr>
          <p:cNvPr id="6" name="Image 1" descr="C:\DA_WorkSpace\DA_Seoul_Villa_AVM\outputs\figures\eda_B2_r2_single_fea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473" y="1508760"/>
            <a:ext cx="5994894" cy="269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443484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점 하나가 거래 1건. 공시가격이 높을수록 실제 가격도 높아 점들이 한 줄로 늘어선다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요인 하나로 가격 차이를 얼마나 설명하나. 공시가격(87%)이 면적·지역·땅값·연식·역·층을 모두 합친 것(72%)보다 크다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공시가격은 정부가 위치·면적·층·연식을 따져 집마다 매긴 가격이라, 이미 많은 정보가 들어 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놓치는 것 — 오래된 건물과 저층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공시가격이라도 오래된 건물·지하·1층은 실제로 더 비싸게(배율이 높게) 거래된다 → 기계학습으로 보정</a:t>
            </a:r>
            <a:endParaRPr lang="en-US" sz="1500" dirty="0"/>
          </a:p>
        </p:txBody>
      </p:sp>
      <p:pic>
        <p:nvPicPr>
          <p:cNvPr id="5" name="Image 0" descr="C:\DA_WorkSpace\DA_Seoul_Villa_AVM\outputs\figures\eda_C1_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569" y="1554480"/>
            <a:ext cx="6576702" cy="2377440"/>
          </a:xfrm>
          <a:prstGeom prst="rect">
            <a:avLst/>
          </a:prstGeom>
        </p:spPr>
      </p:pic>
      <p:pic>
        <p:nvPicPr>
          <p:cNvPr id="6" name="Image 1" descr="C:\DA_WorkSpace\DA_Seoul_Villa_AVM\outputs\figures\eda_C2_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89" y="3977640"/>
            <a:ext cx="6566263" cy="2377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589520" y="1600200"/>
            <a:ext cx="4050792" cy="4572000"/>
          </a:xfrm>
          <a:prstGeom prst="roundRect">
            <a:avLst>
              <a:gd name="adj" fmla="val 180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818120" y="182880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그래프: 새 건물일수록 ㎡당 가격이 높다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그래프: 그런데 '실제 가격 ÷ 공시가격' 배율은 오래된 건물이 더 높다(강남 1.76배 → 2.12배). 재개발 기대가 공시가격에 덜 들어 있다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지하는 지상 ㎡당 가격의 54~59%, 배율은 지하·1층이 높다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연식·층·승강기·면적·위치로 기계학습이 보정한다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정보와 버린 정보 — 주소와 층만으로 알 수 있는 것만 썼다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계산할 때 알 수 없는 정보(예: 직거래였는지)는 아무리 중요해도 쓸 수 없다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정보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공시가격, 그 동네의 실거래 배율, 시기별 시세 변화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 · 층(지하·꼭대기 층 여부) · 건물 층수 · 전용면적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승강기 · 세대수 · 세대당 주차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 거리 · 땅값 · 위치(좌표) · 지역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기계학습이 많이 쓴 것: 연식 · 지역 · 층 · 건물 층수 · 면적 · 위치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정보와 이유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 여부·파는 사람/사는 사람: 계산할 때 알 수 없다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전월세: 전세금은 매매가와 같지 않다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건축년도: 연식과 같은 정보 / 동 수: 세대수와 거의 같은 정보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 구조: 90%가 철근콘크리트라 구별이 안 된다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학교·공원 거리: 시간 안에 못 했다 → 개선안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모델 설계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한 줄이 시세·범위·신뢰도·근거가 되기까지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최신 거래로 다시 계산한다 — 새 거래가 쌓이면 다시 실행만 하면 반영된다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입력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구·동·지번·층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호·면적(비어도 됨)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08960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01568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주소 확인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고유번호(지번)로 바꾸기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밖이면 이유와 함께 실패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61888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54496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공시가격 찾기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모은 데이터에 없으면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정부 API 조회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14816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07424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0304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기본 추정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× 동네 실거래 배율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(같은 건물 거래가 있으면 우선)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07424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90304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기계학습 보정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연식·층·위치 등으로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추정을 다듬기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814816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6254496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37376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추정값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보정한 두 값의 평균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61888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3401568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84448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범위·신뢰도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84448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물건의 과거 오차로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범위와 신뢰도 계산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108960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32" name="Shape 30"/>
          <p:cNvSpPr/>
          <p:nvPr/>
        </p:nvSpPr>
        <p:spPr>
          <a:xfrm>
            <a:off x="548640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출력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추정·하한·상한·신뢰도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한 줄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64724" y="3063240"/>
            <a:ext cx="0" cy="86868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⑤의 두 값: 건물 특징만으로 직접 낸 가격, 그리고 ④가 얼마나 빗나갈지 예측해 고친 가격 — 둘의 장단점이 달라 평균을 쓴다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모델 설계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13가지 방법을 같은 시험으로 비교해 가장 고른 성적을 낸 것을 골랐다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방식: 일부 건물을 떼어 두고, 나머지로 배운 뒤 떼어 둔 건물의 실제 거래가를 맞혀 본다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56692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0" y="1600200"/>
            <a:ext cx="50292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후보: 선형 회귀, 비슷한 거래 평균, 랜덤포레스트, XGBoost 4가지 × 계산 방식 3가지 = 12가지 + 기본 추정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세 종류: 처음 보는 건물 / 과거 거래가 있는 건물 / 1년 전에 만든 모델로 1년 뒤 맞히기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건물이 '배우는 쪽'과 '시험 보는 쪽'에 섞이지 않게 건물 단위로 나눴다(섞이면 성적이 부풀려진다)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기준은 결과를 보기 전에 정했고, 차이가 우연이 아닌지 2,000번 다시 뽑아 확인했다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XGBoost(두 방식의 평균)가 세 시험 모두에서 상위권이라 선택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용어(GroupKFold·그리드서치·부트스트랩)와 상세 결과는 부록 · 이 그래프는 학습 기간 6년으로 비교하던 당시 값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632개 건물로 시험: 10건 중 8건이 ±20% 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거래가 있는 건물 3,159개 중 632개를 미리 떼어 두고, 건물마다 가장 최근 거래가를 맞혀 봤다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377440"/>
                <a:gridCol w="286481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 상황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추정과 실제의 보통 차이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±20% 안에 든 비율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가격이 80% 범위 안에 든 비율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처음 보는 건물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9.3%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82.0%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거래가 있는 건물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80.2%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(비교) 기본 추정만 썼을 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10.6%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71.7% / 73.9%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69.8% / 67.6%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69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지역별(과거 거래가 있는 건물) — 보통 차이 · ±20% 안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 화곡동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8.6%  ·  80%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2608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관악구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10896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9.0%  ·  84%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30352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강남구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9.3%  ·  75%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772400" y="4480560"/>
            <a:ext cx="3867912" cy="1097280"/>
          </a:xfrm>
          <a:prstGeom prst="roundRect">
            <a:avLst>
              <a:gd name="adj" fmla="val 6667"/>
            </a:avLst>
          </a:prstGeom>
          <a:solidFill>
            <a:srgbClr val="E3EAF6"/>
          </a:solidFill>
          <a:ln w="12700">
            <a:solidFill>
              <a:srgbClr val="E3EA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55280" y="4572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세운 목표(보통 차이 10% 이하, ±20% 안 75% 이상, 범위 포함 70~90%)를 모두 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면적을 비워 넣은 경우, 평균 오차(MAPE) 등 상세는 부록 · 비교 행은 처음 보는 건물 / 과거 거래가 있는 건물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신뢰도가 정직하다 — 0.87이라고 한 물건은 실제로 86%가 맞았다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틀릴 만한 물건에는 스스로 낮은 신뢰도를 매긴다 — 블라인드 평가에서 보는 핵심</a:t>
            </a:r>
            <a:endParaRPr lang="en-US" sz="1500" dirty="0"/>
          </a:p>
        </p:txBody>
      </p:sp>
      <p:pic>
        <p:nvPicPr>
          <p:cNvPr id="5" name="Image 0" descr="C:\DA_WorkSpace\DA_Seoul_Villa_AVM\outputs\figures\eda_D1_pred_vs_actual_reli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9021"/>
            <a:ext cx="7498080" cy="356291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600200"/>
            <a:ext cx="3364992" cy="4434840"/>
          </a:xfrm>
          <a:prstGeom prst="roundRect">
            <a:avLst>
              <a:gd name="adj" fmla="val 217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0" y="182880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점이 대각선 띠(±20%) 안에 많을수록 정확. 632건 중 80%가 띠 안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신뢰도별로 실제로 맞힌 비율. 점선 위에 있으면 말한 것보다 잘 맞힌 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계산: 오차가 컸던 조건(동네 가격이 들쭉날쭉, 작은 집, 강남, 지하층, 오래된 건물 등)일수록 낮게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0.57 → 실제 59%, 0.78 → 81%, 0.87 → 86%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틀린 경우는 대부분 시세와 다르게 거래된 집이었다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간 거래·급매처럼 사정이 있는 거래는 주소만으로 알 수 없다 — 모델의 한계로 솔직히 밝힌다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±20% 밖으로 틀린 125건 중 공시가격에 비해 유난히 싸거나 비싸게 거래된 비율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107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15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크게 틀린 15건 중 직거래(중개사 없이 직접 거래)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600200"/>
          <a:ext cx="7708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51560"/>
                <a:gridCol w="914400"/>
                <a:gridCol w="77724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거래가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이유로 보이는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 대치동 24.67㎡ 5층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3.65억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+103%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공시가격과 거의 같은 값에 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 청담동 37.2㎡ 2층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3.89억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7.49억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공시가격보다 싸게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 봉천동 60.09㎡ 3층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3.88억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 봉천동 68.67㎡ 1층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1.84억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+79%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34년 된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강서 화곡동 32.66㎡ 2층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1.44억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+78%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공시가격보다 싸게, 36년 된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069080" y="4343400"/>
            <a:ext cx="7498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직거래(시험 대상의 10%)는 보통 차이가 22% — 사는 사람·파는 사람 사이 사정이 가격에 섞인다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지하층·오래된 건물은 미리 알 수 있어서 신뢰도를 낮춰 표시한다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집은 조금 낮게, 싼 집은 조금 높게 추정하는 경향도 있다(강남이 평균 5% 낮게 나오는 이유)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예시 산출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 1건 — 호가 있을 때, 면적이 빌 때, 지하층일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실제로 내놓는 결과: 추정값, 가격 범위, 신뢰도, 그리고 계산 근거 한 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 화곡동 354-41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203호 · 34.01㎡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2.43억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1.97 ~ 2.98억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1.34억 × 동네 배율 1.78 = 2.38억, 건물 특징으로 2% 올림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−13.6%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2978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1578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관악 봉천동 898-9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51578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3층 · 면적 모름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51578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2.47억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551578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2.00 ~ 3.03억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51578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1578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51578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1.28억 × 배율 1.88 = 2.40억, 3% 올림. 면적은 공시가격 자료(39.76㎡)로 채움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51578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+7.3%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97317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5917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 일원동 661-1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325917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 1층 · 49.08㎡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5917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5.30억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8325917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3.81 ~ 7.53억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325917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0.59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325917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25917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2.05억 × 배율 2.42 = 4.96억, 7% 올림. 지하·강남이라 신뢰도 낮고 범위가 넓다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25917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−14.2%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출력의 근거 문장은 더 자세하다(outputs/example_output.csv). 특정 집의 답을 외워 두는 방식은 쓰지 않았다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AI 활용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코드를 쓰고, 무엇을 할지와 맞는지는 내가 판단했다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도구는 Claude Code(코드를 직접 읽고 실행하는 AI) 하나. 모든 단계에 썼다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749040" cy="3931920"/>
          </a:xfrm>
          <a:prstGeom prst="roundRect">
            <a:avLst>
              <a:gd name="adj" fmla="val 195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일하는 규칙을 파일로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291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지어내지 말 것, 데이터를 합칠 때마다 건수를 맞춰 볼 것, 상용 시세는 쓰지 말 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결정마다 선택지·이유를 문서로(19건)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이력을 매일 남겨 다음 날 이어서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결과는 내가 확인한 뒤 반영 — PR 14건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00200"/>
          <a:ext cx="706831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30906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판단·결정한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요약, 감정평가 방식을 모델에 연결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마감·기준일, 같은 집 과거 거래도 참고 사례로 쓰기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정부 API 응답 확인, 수집 코드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데이터를 얼마나 받을지, 약관 문제 시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다듬기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중복·표기·이상한 거래를 걸러 내는 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거래를 뺄지(싼 쪽만 빼기)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 설계, 13가지 방법 비교, 신뢰도 계산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방법도 비교하라고 요구, 최종 모델·3년 결정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전수 점검, 문서와 코드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다시 확인 요청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기록·그림·발표 자료 초안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범위, 최종 검토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AI 활용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틀린 것은 결과를 직접 확인할 때 잡혔다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답을 그대로 믿지 않고 실행 결과·원래 데이터·과제 원문과 맞춰 보는 단계를 따로 뒀다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7764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잡은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틀린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고친 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원문·약관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 위치를 저장 금지 서비스(Kakao)에서 받아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정부 공공데이터로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원문·약관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'모은 데이터에 없는 집은 그 자리에서 조회' 요구를 놓침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 조회 기능 추가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범위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거래의 26%를 이상한 거래로 잘못 표시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기준을 고쳐 0.4%로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범위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 사용승인일을 잘못 읽어 연식이 2006년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호수를 비교하는 버그로 20건 중 18건 오류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코드와 검사 방법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하나씩 열어 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거래 133건까지 '묶음 거래'로 잘못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12건만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데이터를 보기 전에 쓴 그림 제목 6개가 실제와 다름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표와 맞춰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질문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없이 '3년치만 모으자'고 제안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6년 모은 뒤 시험해서 3년 결정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3227832" cy="1417320"/>
          </a:xfrm>
          <a:prstGeom prst="roundRect">
            <a:avLst>
              <a:gd name="adj" fmla="val 516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4108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20574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확인하는 단계를 따로 둘 때만 잡혔다 → 단계마다 점검을 요청했다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12480" y="3200400"/>
            <a:ext cx="3227832" cy="2880360"/>
          </a:xfrm>
          <a:prstGeom prst="roundRect">
            <a:avLst>
              <a:gd name="adj" fmla="val 254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4108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없이 했다면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2.5~3.5개월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40873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5개월 차 혼자 · 같은 범위 · 실제 3일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API·데이터 처리·검증 방법을 처음 익히는 시간이 대부분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범위를 줄여도(방법 1개, 단순 신뢰도) 5~6주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줄인 것은 구현 시간, 고르고 의심하는 일은 직접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한계와 개선안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숙제는 사정이 있는 거래와 집 한 채 단위 정보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서비스로 쓰려면 데이터를 자동으로 새로 받고, 성적을 계속 다시 재야 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간 거래·급매는 구별 못 하고 신뢰도도 못 낮춘다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집은 조금 낮게, 싼 집은 조금 높게 추정한다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 안에서는 위험한 물건을 신뢰도로 잘 가리지 못한다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호수까지 넣은 입력의 정확도는 시험하지 못했다(실거래 자료에 호수가 없음)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없는 집은 정확도가 낮다(신뢰도 0.10으로 표시)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1년이 지나면 3~5% 낮게 추정한다 — 갱신이 필요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서비스에 붙이려면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실거래가는 매달, 공시가격은 매년 자동으로 새로 받기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거래로 매달 성적을 다시 재고, 기준보다 떨어지면 다시 학습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사정이 있는 거래를 찾아내는 장치(등기부 등 추가 자료)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한 채 단위 정보(방향·조망·내부 상태), 학교·공원·상권 거리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비슷한 거래를 근거로 함께 보여 주기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학습해 두고 요청마다 바로 답하기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공시가격에서 출발하면 단순하고 설명하기 쉬운 추정이 된다 — 가격 차이의 87%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놓친 오래된 건물·저층·위치 차이를 기계학습으로 보정해 오차를 줄였다(11% → 9%)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믿을지를 과거 오차로 계산해, 신뢰도와 실제 적중률을 맞췄다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모든 단계에 썼고, 무엇을 할지와 맞는지는 직접 판단했다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코드·데이터·결정 기록: github.com/KimInSeok-DA/DA_Seoul_Villa_AVM  |  다음 장부터 부록(기술 상세)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34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상세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풀이 · 기술 스택과 데이터 상세 · 검증 상세표 · 모델 비교 방법 · 신뢰도 계산 방법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풀이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뜻(본문에서 쓴 쉬운 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B1(기본 추정)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 × 실거래/공시 비율. 비율은 같은 건물 → 법정동 → 구 순서로 가져오고, 거래가 적으면 동네 값 쪽으로 당긴다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지수(시점 보정)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구별·월별 실거래/공시 비율의 중앙값(3개월 이동평균). 과거 거래가를 기준일 가격으로 환산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나무를 여러 개 이어 붙여 앞 나무의 오차를 다음 나무가 줄이는 기계학습 방법(그래디언트 부스팅)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/ 잔차 / 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직접: 건물 특징으로 log ㎡당 가격 예측 / 잔차: log(실거래 ÷ B1) 예측해 B1을 보정 / 평균: 두 추정의 기하평균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PNU(지번)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법정동코드 10자리 + 산 여부 1자리 + 본번 4자리 + 부번 4자리. 데이터를 합치는 열쇠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홀드아웃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학습에 쓰지 않고 시험용으로 떼어 둔 표본(건물 632개)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교차검증을 건물(그룹) 단위로 나눠 같은 건물이 학습·검증에 섞이지 않게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그리드서치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하이퍼파라미터(나무 깊이·개수 등) 조합을 모두 시험해 교차검증 성적이 가장 좋은 것을 고름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부트스트랩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표본을 복원 추출로 2,000번 다시 뽑아 성적 차이의 95% 구간을 구함 — 0을 포함하지 않으면 우연이 아니라고 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MAPE / 중앙값 오차율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|추정 − 실제| ÷ 실제의 평균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Z-점수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중앙값과 MAD로 계산한 이상치 점수. |z| &gt; 3.5를 이상치로 봄(Iglewicz &amp; Hoaglin 1993)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결정계수 / VIF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결정계수: 변수가 설명하는 분산 비율 / VIF: 변수끼리 얼마나 겹치는지(다중공선성)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스택과 데이터 상세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84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언어·환경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3.12+ (개발 3.14.5), uv + requirements.txt — 3.12·3.13·3.14 새 환경에서 같은 출력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pandas 3.0.6, numpy 2.5.3, XGBoost 3.4.1, scikit-learn 1.9.1, requests, python-dotenv, Jupyter, matplotlib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DATA_GO_KR_API_KEY(실거래·건축물대장), VWORLD_API_KEY(공시가격·연속지적도) — 환경변수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2148840"/>
                <a:gridCol w="1463040"/>
                <a:gridCol w="28190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기간·기준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받은 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후 · 사용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연립다세대 매매 실거래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구·월별 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2020-10~2026-10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36,997건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33,886건 · 학습 최근 3년 14,520건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연립다세대 전월세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2020-10~2026-10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143,109건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안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공동주택가격(호별)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거래 지번마다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2026(없으면 최근 연도)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9,928개 지번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107,236호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건축물대장 표제부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거래 지번마다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수집일 현행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9,928개 지번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연식·승강기·층수·세대수·주차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필지 좌표·공시지가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API(연속지적도), 3개 구 전체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 공시지가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123,615필지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좌표·땅값·역 거리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 파일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2026-06-30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367개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275개 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법정동코드·행정동 연계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공공데이터·행정안전부 파일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2026-06-30 · 2026-09-30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30개 법정동 · 63개 행정동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유형: 다세대 30,551 · 연립 3,203 · 혼합 표기 132건(정제 후). 정제: 해제 2,188 · 낮은 이상치(수정 Z &lt; −3.5) 331 · 일괄 매매 합계 12 · 재건축 전 580 제외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 상세(632개 건물, 입력: 호 없음)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31520"/>
                <a:gridCol w="1463040"/>
                <a:gridCol w="1463040"/>
                <a:gridCol w="1463040"/>
                <a:gridCol w="1508760"/>
                <a:gridCol w="153893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면적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 오차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±10%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80% 구간 포함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처음 보는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처음 보는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46.7%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같은 건물 과거 거래 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54.6%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같은 건물 과거 거래 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기준선 B1 (A / 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10.6%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15.8% / 14.7%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45.1% / 48.3%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71.7% / 73.9%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69.8% / 67.6%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36008"/>
                <a:gridCol w="4629607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신뢰도 구간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표본 / 평균 신뢰도 / 실제 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표본 / 평균 신뢰도 / 실제 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53 / 0.57 / 66.0%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 / 0.57 / 59.1%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0.6~0.7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136 / 0.65 / 64.7%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 / 0.65 / 70.1%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0.7~0.8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247 / 0.78 / 83.4%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185 / 0.78 / 81.1%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 초과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196 / 0.86 / 86.7%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306 / 0.87 / 85.9%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분할: 최근 12개월 거래가 있는 평가 권역 건물 3,159개 중 20%(시드 42)를 건물 단위로 분리, 건물마다 최근 거래 1건. A는 그 건물 거래를 모두 빼고, B는 대상 거래 이전 거래만 남김. 구간·신뢰도 보정은 나머지 건물 1만 건으로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비교 방법과 학습 기간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13개: Ridge · KNN · 랜덤포레스트 · XGBoost × {직접(log ㎡당 가격) / 잔차(log 실거래÷B1) / 둘의 기하평균} + B1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Pipeline(결측 채움·표준화 → 모델) + GridSearchCV, 학습 세트 안에서만 GroupKFold(5, 그룹 = PNU), 기준 MAE(log)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누수 방지: 학습 행의 B1 근거는 그 거래보다 앞선 같은 건물 거래와 자기 건물을 뺀 동네 통계로만 계산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 A(처음 보는 건물) · B(같은 건물 앞선 거래 있음) · T(2025-08까지 학습해 그 뒤 1년 맞히기)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기준(±20% 적중·중앙값 오차·MAPE, 세 상황 순위, 부트스트랩 95% 구간, 단순성)을 결과 전에 문서로 고정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XGB-평균이 평균 순위 1위(1.8), 가장 나쁜 순위도 1위(2.3). 직접 방식은 T에서, 잔차 방식은 A에서 약해 평균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234440"/>
          <a:ext cx="450799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987552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기간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±20%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±20%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3년(채택)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14,520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 / 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80.2% / 9.0%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24,531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 / 9.7%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 / 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33,886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74.5% / 9.9%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78.2% / 9.5%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132320" y="3474720"/>
            <a:ext cx="45079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− 6년: A ±20% 적중 +4.4%p [+2.2, +6.8], 평균 오차 A −1.1%p · B −0.9%p(부트스트랩 95% 구간). 최종 검증과 분리한 보정 표본에서도 같은 방향(72.5% → 75.9%)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docs/의사결정/1007_10_ML_비교.md, 1007_13_오차_분석.md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구간과 신뢰도 계산 방법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표본: 최종 검증 632개를 뺀 나머지 후보 건물 2,527개를 5묶음으로 나눠 돌아가며 시험 → 약 1만 건의 오차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점수 = |log 오차|를 예측 때 아는 변수로 최소제곱 회귀한 값: 동네 비율의 흩어짐, 같은 건물 비율의 흩어짐·동네와 차이·거래 수, 면적, 강남·화곡, 면적 비움, XGBoost 두 추정의 차이, ML 보정 배율, 지하층, 30년 초과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10분위마다 log 오차의 10%·90% 분위수 → 80% 구간(정규분포 가정 없이 실제 오차 분포)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10분위마다 ±20% 적중률 → 신뢰도, 점수가 클수록 낮아지게 단조 보정(isotonic)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없는 추정(㎡단가)은 표본이 적어 신뢰도 0.10으로 고정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수집에 없는 지번은 실행 중 VWorld 공시가격·건축HUB 대장을 조회(키 없으면 조회 없이 계속하고 근거에 적음)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docs/의사결정/1007_09_구간_신뢰도_보정.md, 1007_12_실행_중_조회.md, 1007_13_오차_분석.md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다세대(빌라) 자동 시세 산정 모델</dc:title>
  <dc:subject>PptxGenJS Presentation</dc:subject>
  <dc:creator>김인석</dc:creator>
  <cp:lastModifiedBy>김인석</cp:lastModifiedBy>
  <cp:revision>1</cp:revision>
  <dcterms:created xsi:type="dcterms:W3CDTF">2026-10-08T05:51:56Z</dcterms:created>
  <dcterms:modified xsi:type="dcterms:W3CDTF">2026-10-08T05:51:56Z</dcterms:modified>
</cp:coreProperties>
</file>