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52514E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52514E"/>
                </a:solidFill>
                <a:latin typeface="+mn-lt"/>
              </a:rPr>
              <a:t>±20% 적중률(과거 거래가 있는 건물, 방법별로 세 상황 종합 순위가 가장 높은 방식)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±20% 적중률</c:v>
                </c:pt>
              </c:strCache>
            </c:strRef>
          </c:tx>
          <c:spPr>
            <a:solidFill>
              <a:srgbClr val="9FB4D9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52514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FB4D9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FB4D9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FB4D9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9FB4D9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B2640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기본 추정</c:v>
                  </c:pt>
                  <c:pt idx="1">
                    <c:v>선형 회귀</c:v>
                  </c:pt>
                  <c:pt idx="2">
                    <c:v>비슷한 거래 평균</c:v>
                  </c:pt>
                  <c:pt idx="3">
                    <c:v>랜덤포레스트</c:v>
                  </c:pt>
                  <c:pt idx="4">
                    <c:v>XGBoost(선택)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73.7</c:v>
                </c:pt>
                <c:pt idx="1">
                  <c:v>73.7</c:v>
                </c:pt>
                <c:pt idx="2">
                  <c:v>77.1</c:v>
                </c:pt>
                <c:pt idx="3">
                  <c:v>77.2</c:v>
                </c:pt>
                <c:pt idx="4">
                  <c:v>78.6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52514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F232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2"/>
          <c:min val="6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600" b="1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eaLnBrk="0" algn="l" indent="0" marL="0">
              <a:buNone/>
            </a:pPr>
            <a:endParaRPr lang="ko-KR" alt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ko-KR" altLang="en-US" sz="11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eaLnBrk="0" indent="0" marL="0">
              <a:buNone/>
            </a:pPr>
            <a:endParaRPr lang="ko-KR" alt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eaLnBrk="0" algn="r"/>
            <a:fld id="{F7021451-1387-4CA6-816F-3879F97B5CBC}" type="slidenum">
              <a:rPr b="0" lang="ko-KR" altLang="en-US"/>
              <a:t>1002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6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eaLnBrk="0" algn="r"/>
            <a:fld id="{F7021451-1387-4CA6-816F-3879F97B5CBC}" type="slidenum">
              <a:rPr b="0" lang="ko-KR" altLang="en-US"/>
              <a:t>null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 alt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630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8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분석 과제 전형  |  제출 자료</a:t>
            </a:r>
            <a:endParaRPr lang="ko-KR" alt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011680"/>
            <a:ext cx="10058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서울 다세대(빌라)</a:t>
            </a:r>
            <a:endParaRPr lang="ko-KR" altLang="en-US" sz="4000" dirty="0"/>
          </a:p>
          <a:p>
            <a:pPr eaLnBrk="0" indent="0" marL="0">
              <a:lnSpc>
                <a:spcPct val="120000"/>
              </a:lnSpc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시세 산정 모델</a:t>
            </a:r>
            <a:endParaRPr lang="ko-KR" alt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776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600" dirty="0">
                <a:solidFill>
                  <a:srgbClr val="C9D3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지번·층·호를 넣으면 시세·범위·신뢰도·근거를 산출합니다  |  강서구 화곡동 · 관악구 · 강남구  |  기준일 2026-10-06</a:t>
            </a:r>
            <a:endParaRPr lang="ko-KR" alt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669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지원자 김인석</a:t>
            </a:r>
            <a:endParaRPr lang="ko-KR" alt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6035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C9D3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github.com/KimInSeok-DA/DA_Seoul_Villa_AVM</a:t>
            </a:r>
            <a:endParaRPr lang="ko-KR" alt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eaLnBrk="0" indent="0" marL="0">
              <a:buNone/>
            </a:pPr>
            <a:r>
              <a:rPr lang="ko-KR" altLang="en-US" sz="11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AVM  /  한눈에 보기</a:t>
            </a:r>
            <a:endParaRPr lang="ko-KR" alt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공시가격에서 출발해 </a:t>
            </a:r>
            <a:pPr eaLnBrk="0" algn="l" indent="0" marL="0">
              <a:buNone/>
            </a:pPr>
            <a:r>
              <a:rPr lang="ko-KR" altLang="en-US" sz="26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특징으로 보정</a:t>
            </a:r>
            <a:pPr eaLnBrk="0" algn="l" indent="0" marL="0">
              <a:buNone/>
            </a:pPr>
            <a:r>
              <a:rPr lang="ko-KR" altLang="en-US" sz="2600" b="1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했습니다</a:t>
            </a:r>
            <a:endParaRPr lang="ko-KR" alt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5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 결과, 추정값은 실제 거래가와 보통 9% 차이가 났고 10건 중 8건이 ±20% 안에 들었습니다</a:t>
            </a:r>
            <a:endParaRPr lang="ko-KR" alt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764792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36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9%</a:t>
            </a:r>
            <a:endParaRPr lang="ko-KR" altLang="en-US" sz="3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5146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가격과의 보통 차이</a:t>
            </a:r>
            <a:endParaRPr lang="ko-KR" alt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383280" y="160020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11880" y="1764792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36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79%</a:t>
            </a:r>
            <a:endParaRPr lang="ko-KR" altLang="en-US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3611880" y="25146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가격 ±20% 안에 든 비율(10건 중 8건)</a:t>
            </a:r>
            <a:endParaRPr lang="ko-KR" alt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17920" y="160020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46520" y="1764792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36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ko-KR" alt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6446520" y="25146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신뢰도 0.8 초과 물건의 ±20% 적중률</a:t>
            </a:r>
            <a:endParaRPr lang="ko-KR" alt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052560" y="160020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281160" y="1764792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36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20초</a:t>
            </a:r>
            <a:endParaRPr lang="ko-KR" altLang="en-US" sz="3600" dirty="0"/>
          </a:p>
        </p:txBody>
      </p:sp>
      <p:sp>
        <p:nvSpPr>
          <p:cNvPr id="16" name="Text 14"/>
          <p:cNvSpPr txBox="1"/>
          <p:nvPr/>
        </p:nvSpPr>
        <p:spPr>
          <a:xfrm>
            <a:off x="9281160" y="25146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20건 계산(기준 30분 이내)</a:t>
            </a:r>
            <a:endParaRPr lang="ko-KR" alt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3429000"/>
            <a:ext cx="457200" cy="457200"/>
          </a:xfrm>
          <a:prstGeom prst="ellipse">
            <a:avLst/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3429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lnSpc>
                <a:spcPct val="120000"/>
              </a:lnSpc>
              <a:buNone/>
            </a:pPr>
            <a:r>
              <a:rPr lang="ko-KR" alt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ko-KR" alt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143000" y="34290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400" b="1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수집</a:t>
            </a:r>
            <a:endParaRPr lang="ko-KR" alt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02336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6년 치 실거래에서 이상 거래를</a:t>
            </a:r>
            <a:endParaRPr lang="ko-KR" altLang="en-US" sz="1200" dirty="0"/>
          </a:p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제외하고 최근 3년 1만 4천 건 사용</a:t>
            </a:r>
            <a:endParaRPr lang="ko-KR" alt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383280" y="3429000"/>
            <a:ext cx="457200" cy="457200"/>
          </a:xfrm>
          <a:prstGeom prst="ellipse">
            <a:avLst/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3429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lnSpc>
                <a:spcPct val="120000"/>
              </a:lnSpc>
              <a:buNone/>
            </a:pPr>
            <a:r>
              <a:rPr lang="ko-KR" alt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ko-KR" alt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3977640" y="34290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400" b="1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기본 추정</a:t>
            </a:r>
            <a:endParaRPr lang="ko-KR" alt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3383280" y="402336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공시가격 × 그 동네의</a:t>
            </a:r>
            <a:endParaRPr lang="ko-KR" altLang="en-US" sz="1200" dirty="0"/>
          </a:p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실거래 배율</a:t>
            </a:r>
            <a:endParaRPr lang="ko-KR" alt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17920" y="3429000"/>
            <a:ext cx="457200" cy="457200"/>
          </a:xfrm>
          <a:prstGeom prst="ellipse">
            <a:avLst/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217920" y="3429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lnSpc>
                <a:spcPct val="120000"/>
              </a:lnSpc>
              <a:buNone/>
            </a:pPr>
            <a:r>
              <a:rPr lang="ko-KR" alt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ko-KR" alt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6812280" y="34290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400" b="1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머신러닝 보정</a:t>
            </a:r>
            <a:endParaRPr lang="ko-KR" alt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6217920" y="402336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연식·층·승강기·위치 등</a:t>
            </a:r>
            <a:endParaRPr lang="ko-KR" altLang="en-US" sz="1200" dirty="0"/>
          </a:p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공시가격이 덜 반영한 요인</a:t>
            </a:r>
            <a:endParaRPr lang="ko-KR" alt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9052560" y="3429000"/>
            <a:ext cx="457200" cy="457200"/>
          </a:xfrm>
          <a:prstGeom prst="ellipse">
            <a:avLst/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052560" y="3429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lnSpc>
                <a:spcPct val="120000"/>
              </a:lnSpc>
              <a:buNone/>
            </a:pPr>
            <a:r>
              <a:rPr lang="ko-KR" alt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ko-KR" alt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9646920" y="34290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400" b="1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범위·신뢰도 계산</a:t>
            </a:r>
            <a:endParaRPr lang="ko-KR" alt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9052560" y="402336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과거 오차로 가격 범위와</a:t>
            </a:r>
            <a:endParaRPr lang="ko-KR" altLang="en-US" sz="1200" dirty="0"/>
          </a:p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신뢰도 산출</a:t>
            </a:r>
            <a:endParaRPr lang="ko-KR" alt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548640" y="5120640"/>
            <a:ext cx="11094415" cy="960120"/>
          </a:xfrm>
          <a:prstGeom prst="roundRect">
            <a:avLst>
              <a:gd name="adj" fmla="val 7619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22960" y="5212080"/>
            <a:ext cx="105457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4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크게 빗나간 경우는 대부분 가족 간 거래나 급매처럼 시세와 다른 가격에 거래된 집이었습니다. 이런 사정은 주소만으로는 알 수 없어 한계로 정리했고, 지하층·노후 건물처럼 미리 알 수 있는 위험은 신뢰도를 낮춰 표시합니다.</a:t>
            </a:r>
            <a:endParaRPr lang="ko-KR" alt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eaLnBrk="0" algn="r"/>
            <a:fld id="{F7021451-1387-4CA6-816F-3879F97B5CBC}" type="slidenum">
              <a:rPr b="0" lang="ko-KR" altLang="en-US"/>
              <a:t>2</a:t>
            </a:fld>
            <a:endParaRPr lang="ko-KR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eaLnBrk="0" indent="0" marL="0">
              <a:buNone/>
            </a:pPr>
            <a:r>
              <a:rPr lang="ko-KR" altLang="en-US" sz="11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AVM  /  읽는 법</a:t>
            </a:r>
            <a:endParaRPr lang="ko-KR" alt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자료를 읽는 데 필요한 </a:t>
            </a:r>
            <a:pPr eaLnBrk="0" algn="l" indent="0" marL="0">
              <a:buNone/>
            </a:pPr>
            <a:r>
              <a:rPr lang="ko-KR" altLang="en-US" sz="26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숫자 네 가지</a:t>
            </a:r>
            <a:endParaRPr lang="ko-KR" alt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5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예시: 화곡동 빌라 한 채를 넣으면 추정 2.41억, 범위 1.99억～2.84억, 신뢰도 0.83이 나옵니다</a:t>
            </a:r>
            <a:endParaRPr lang="ko-KR" alt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914400" y="2423160"/>
            <a:ext cx="10332720" cy="0"/>
          </a:xfrm>
          <a:prstGeom prst="line">
            <a:avLst/>
          </a:prstGeom>
          <a:noFill/>
          <a:ln w="19050">
            <a:solidFill>
              <a:srgbClr val="D9DC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912059" y="2240280"/>
            <a:ext cx="5855208" cy="365760"/>
          </a:xfrm>
          <a:prstGeom prst="roundRect">
            <a:avLst>
              <a:gd name="adj" fmla="val 50000"/>
            </a:avLst>
          </a:prstGeom>
          <a:solidFill>
            <a:srgbClr val="CADBF3"/>
          </a:solidFill>
          <a:ln w="12700">
            <a:solidFill>
              <a:srgbClr val="CADBF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58917" y="2276856"/>
            <a:ext cx="292608" cy="292608"/>
          </a:xfrm>
          <a:prstGeom prst="ellipse">
            <a:avLst/>
          </a:prstGeom>
          <a:solidFill>
            <a:srgbClr val="1B264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90821" y="17830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lnSpc>
                <a:spcPct val="120000"/>
              </a:lnSpc>
              <a:buNone/>
            </a:pPr>
            <a:r>
              <a:rPr lang="ko-KR" altLang="en-US" sz="14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추정 2.41억</a:t>
            </a:r>
            <a:endParaRPr lang="ko-KR" alt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2363419" y="26974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1.99억</a:t>
            </a:r>
            <a:endParaRPr lang="ko-KR" alt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218627" y="26974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2.84억</a:t>
            </a:r>
            <a:endParaRPr lang="ko-KR" alt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3337560"/>
            <a:ext cx="2602154" cy="2011680"/>
          </a:xfrm>
          <a:prstGeom prst="roundRect">
            <a:avLst>
              <a:gd name="adj" fmla="val 3636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3474720"/>
            <a:ext cx="21449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7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오차율</a:t>
            </a:r>
            <a:endParaRPr lang="ko-KR" alt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3931920"/>
            <a:ext cx="214495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추정값이 실제 거래가와 몇 % 다른지를 나타냅니다. 여러 건의 가운데 값(중앙값)을 썼고, 이 모델은 약 9%입니다</a:t>
            </a:r>
            <a:endParaRPr lang="ko-KR" alt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379394" y="3337560"/>
            <a:ext cx="2602154" cy="2011680"/>
          </a:xfrm>
          <a:prstGeom prst="roundRect">
            <a:avLst>
              <a:gd name="adj" fmla="val 3636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607994" y="3474720"/>
            <a:ext cx="21449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7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±20% 적중률</a:t>
            </a:r>
            <a:endParaRPr lang="ko-KR" alt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3607994" y="3931920"/>
            <a:ext cx="214495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추정값이 실제 가격의 ±20% 안에 든 비율입니다. 3억 원짜리 집이면 2.4억～3.6억이고, 이 모델은 10건 중 8건입니다</a:t>
            </a:r>
            <a:endParaRPr lang="ko-KR" alt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210148" y="3337560"/>
            <a:ext cx="2602154" cy="2011680"/>
          </a:xfrm>
          <a:prstGeom prst="roundRect">
            <a:avLst>
              <a:gd name="adj" fmla="val 3636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38748" y="3474720"/>
            <a:ext cx="21449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7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80% 범위</a:t>
            </a:r>
            <a:endParaRPr lang="ko-KR" alt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6438748" y="3931920"/>
            <a:ext cx="214495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위 막대의 하한～상한입니다. 실제 가격이 10번 중 8번 들어오도록 계산했고, 검증에서는 77～83%였습니다</a:t>
            </a:r>
            <a:endParaRPr lang="ko-KR" alt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9040901" y="3337560"/>
            <a:ext cx="2602154" cy="2011680"/>
          </a:xfrm>
          <a:prstGeom prst="roundRect">
            <a:avLst>
              <a:gd name="adj" fmla="val 3636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269501" y="3474720"/>
            <a:ext cx="21449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7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신뢰도(0～1)</a:t>
            </a:r>
            <a:endParaRPr lang="ko-KR" alt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9269501" y="3931920"/>
            <a:ext cx="214495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추정이 ±20% 안에 들 가능성입니다. 0.8이면 비슷한 물건 10건 중 8건이 맞았다는 뜻이며, 낮을수록 주의가 필요합니다</a:t>
            </a:r>
            <a:endParaRPr lang="ko-KR" alt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eaLnBrk="0" algn="r"/>
            <a:fld id="{F7021451-1387-4CA6-816F-3879F97B5CBC}" type="slidenum">
              <a:rPr b="0" lang="ko-KR" altLang="en-US"/>
              <a:t>3</a:t>
            </a:fld>
            <a:endParaRPr lang="ko-KR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eaLnBrk="0" indent="0" marL="0">
              <a:buNone/>
            </a:pPr>
            <a:r>
              <a:rPr lang="ko-KR" altLang="en-US" sz="11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AVM  /  목차</a:t>
            </a:r>
            <a:endParaRPr lang="ko-KR" alt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8가지 항목</a:t>
            </a:r>
            <a:pPr eaLnBrk="0" algn="l" indent="0" marL="0">
              <a:buNone/>
            </a:pPr>
            <a:r>
              <a:rPr lang="ko-KR" altLang="en-US" sz="2600" b="1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순서로 구성했습니다</a:t>
            </a:r>
            <a:endParaRPr lang="ko-KR" alt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5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오른쪽 숫자는 해당 장 번호입니다. 기술 상세는 부록(24～30장)에 정리했습니다</a:t>
            </a:r>
            <a:endParaRPr lang="ko-KR" alt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410048" cy="932688"/>
          </a:xfrm>
          <a:prstGeom prst="roundRect">
            <a:avLst>
              <a:gd name="adj" fmla="val 784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600200"/>
            <a:ext cx="731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24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alt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1554480" y="1755648"/>
            <a:ext cx="330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7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기술 스택</a:t>
            </a:r>
            <a:endParaRPr lang="ko-KR" alt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554480" y="2103120"/>
            <a:ext cx="33069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언어·라이브러리·모델·AI 도구·API</a:t>
            </a:r>
            <a:endParaRPr lang="ko-KR" alt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861408" y="1600200"/>
            <a:ext cx="86868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lnSpc>
                <a:spcPct val="120000"/>
              </a:lnSpc>
              <a:buNone/>
            </a:pPr>
            <a:r>
              <a:rPr lang="ko-KR" altLang="en-US" sz="16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ko-KR" alt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2642616"/>
            <a:ext cx="5410048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2642616"/>
            <a:ext cx="731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24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alt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1554480" y="2798064"/>
            <a:ext cx="330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7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소스</a:t>
            </a:r>
            <a:endParaRPr lang="ko-KR" alt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1554480" y="3145536"/>
            <a:ext cx="33069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출처·수집 방식·건수, 정제 방법</a:t>
            </a:r>
            <a:endParaRPr lang="ko-KR" alt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861408" y="2642616"/>
            <a:ext cx="86868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lnSpc>
                <a:spcPct val="120000"/>
              </a:lnSpc>
              <a:buNone/>
            </a:pPr>
            <a:r>
              <a:rPr lang="ko-KR" altLang="en-US" sz="16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6～7</a:t>
            </a:r>
            <a:endParaRPr lang="ko-KR" alt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48640" y="3685032"/>
            <a:ext cx="5410048" cy="932688"/>
          </a:xfrm>
          <a:prstGeom prst="roundRect">
            <a:avLst>
              <a:gd name="adj" fmla="val 784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3685032"/>
            <a:ext cx="731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24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alt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1554480" y="3840480"/>
            <a:ext cx="330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7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시세 요인</a:t>
            </a:r>
            <a:endParaRPr lang="ko-KR" alt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554480" y="4187952"/>
            <a:ext cx="33069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사용한 변수와 제외한 변수, 그 이유</a:t>
            </a:r>
            <a:endParaRPr lang="ko-KR" alt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861408" y="3685032"/>
            <a:ext cx="86868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lnSpc>
                <a:spcPct val="120000"/>
              </a:lnSpc>
              <a:buNone/>
            </a:pPr>
            <a:r>
              <a:rPr lang="ko-KR" altLang="en-US" sz="16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8～10</a:t>
            </a:r>
            <a:endParaRPr lang="ko-KR" alt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48640" y="4727448"/>
            <a:ext cx="5410048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77240" y="4727448"/>
            <a:ext cx="731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24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ko-KR" alt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1554480" y="4882896"/>
            <a:ext cx="330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7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 설계</a:t>
            </a:r>
            <a:endParaRPr lang="ko-KR" alt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1554480" y="5230368"/>
            <a:ext cx="33069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흐름도, 13가지 방법 비교</a:t>
            </a:r>
            <a:endParaRPr lang="ko-KR" alt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4861408" y="4727448"/>
            <a:ext cx="86868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lnSpc>
                <a:spcPct val="120000"/>
              </a:lnSpc>
              <a:buNone/>
            </a:pPr>
            <a:r>
              <a:rPr lang="ko-KR" altLang="en-US" sz="16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11～12</a:t>
            </a:r>
            <a:endParaRPr lang="ko-KR" alt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6233008" y="1600200"/>
            <a:ext cx="5410048" cy="932688"/>
          </a:xfrm>
          <a:prstGeom prst="roundRect">
            <a:avLst>
              <a:gd name="adj" fmla="val 784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461608" y="1600200"/>
            <a:ext cx="731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24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ko-KR" altLang="en-US" sz="2400" dirty="0"/>
          </a:p>
        </p:txBody>
      </p:sp>
      <p:sp>
        <p:nvSpPr>
          <p:cNvPr id="27" name="Text 25"/>
          <p:cNvSpPr txBox="1"/>
          <p:nvPr/>
        </p:nvSpPr>
        <p:spPr>
          <a:xfrm>
            <a:off x="7238848" y="1755648"/>
            <a:ext cx="330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7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자체 검증</a:t>
            </a:r>
            <a:endParaRPr lang="ko-KR" altLang="en-US" sz="1700" dirty="0"/>
          </a:p>
        </p:txBody>
      </p:sp>
      <p:sp>
        <p:nvSpPr>
          <p:cNvPr id="28" name="Text 26"/>
          <p:cNvSpPr txBox="1"/>
          <p:nvPr/>
        </p:nvSpPr>
        <p:spPr>
          <a:xfrm>
            <a:off x="7238848" y="2103120"/>
            <a:ext cx="33069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632개 건물 검증, 신뢰도, 잘 맞힌·빗나간 사례</a:t>
            </a:r>
            <a:endParaRPr lang="ko-KR" alt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10545775" y="1600200"/>
            <a:ext cx="86868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lnSpc>
                <a:spcPct val="120000"/>
              </a:lnSpc>
              <a:buNone/>
            </a:pPr>
            <a:r>
              <a:rPr lang="ko-KR" altLang="en-US" sz="16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13～16</a:t>
            </a:r>
            <a:endParaRPr lang="ko-KR" alt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6233008" y="2642616"/>
            <a:ext cx="5410048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461608" y="2642616"/>
            <a:ext cx="731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24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ko-KR" altLang="en-US" sz="2400" dirty="0"/>
          </a:p>
        </p:txBody>
      </p:sp>
      <p:sp>
        <p:nvSpPr>
          <p:cNvPr id="32" name="Text 30"/>
          <p:cNvSpPr txBox="1"/>
          <p:nvPr/>
        </p:nvSpPr>
        <p:spPr>
          <a:xfrm>
            <a:off x="7238848" y="2798064"/>
            <a:ext cx="330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7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예시 산출</a:t>
            </a:r>
            <a:endParaRPr lang="ko-KR" altLang="en-US" sz="1700" dirty="0"/>
          </a:p>
        </p:txBody>
      </p:sp>
      <p:sp>
        <p:nvSpPr>
          <p:cNvPr id="33" name="Text 31"/>
          <p:cNvSpPr txBox="1"/>
          <p:nvPr/>
        </p:nvSpPr>
        <p:spPr>
          <a:xfrm>
            <a:off x="7238848" y="3145536"/>
            <a:ext cx="33069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3건의 입력·출력·근거, 실제 실행 화면</a:t>
            </a:r>
            <a:endParaRPr lang="ko-KR" alt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0545775" y="2642616"/>
            <a:ext cx="86868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lnSpc>
                <a:spcPct val="120000"/>
              </a:lnSpc>
              <a:buNone/>
            </a:pPr>
            <a:r>
              <a:rPr lang="ko-KR" altLang="en-US" sz="16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17～18</a:t>
            </a:r>
            <a:endParaRPr lang="ko-KR" alt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233008" y="3685032"/>
            <a:ext cx="5410048" cy="932688"/>
          </a:xfrm>
          <a:prstGeom prst="roundRect">
            <a:avLst>
              <a:gd name="adj" fmla="val 784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461608" y="3685032"/>
            <a:ext cx="731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24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ko-KR" altLang="en-US" sz="2400" dirty="0"/>
          </a:p>
        </p:txBody>
      </p:sp>
      <p:sp>
        <p:nvSpPr>
          <p:cNvPr id="37" name="Text 35"/>
          <p:cNvSpPr txBox="1"/>
          <p:nvPr/>
        </p:nvSpPr>
        <p:spPr>
          <a:xfrm>
            <a:off x="7238848" y="3840480"/>
            <a:ext cx="330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7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활용</a:t>
            </a:r>
            <a:endParaRPr lang="ko-KR" altLang="en-US" sz="1700" dirty="0"/>
          </a:p>
        </p:txBody>
      </p:sp>
      <p:sp>
        <p:nvSpPr>
          <p:cNvPr id="38" name="Text 36"/>
          <p:cNvSpPr txBox="1"/>
          <p:nvPr/>
        </p:nvSpPr>
        <p:spPr>
          <a:xfrm>
            <a:off x="7238848" y="4187952"/>
            <a:ext cx="33069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단계별 역할, AI 오류와 확인 방법</a:t>
            </a:r>
            <a:endParaRPr lang="ko-KR" alt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10545775" y="3685032"/>
            <a:ext cx="86868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lnSpc>
                <a:spcPct val="120000"/>
              </a:lnSpc>
              <a:buNone/>
            </a:pPr>
            <a:r>
              <a:rPr lang="ko-KR" altLang="en-US" sz="16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19～20</a:t>
            </a:r>
            <a:endParaRPr lang="ko-KR" alt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233008" y="4727448"/>
            <a:ext cx="5410048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461608" y="4727448"/>
            <a:ext cx="731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24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ko-KR" altLang="en-US" sz="2400" dirty="0"/>
          </a:p>
        </p:txBody>
      </p:sp>
      <p:sp>
        <p:nvSpPr>
          <p:cNvPr id="42" name="Text 40"/>
          <p:cNvSpPr txBox="1"/>
          <p:nvPr/>
        </p:nvSpPr>
        <p:spPr>
          <a:xfrm>
            <a:off x="7238848" y="4882896"/>
            <a:ext cx="330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7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한계와 개선안</a:t>
            </a:r>
            <a:endParaRPr lang="ko-KR" altLang="en-US" sz="1700" dirty="0"/>
          </a:p>
        </p:txBody>
      </p:sp>
      <p:sp>
        <p:nvSpPr>
          <p:cNvPr id="43" name="Text 41"/>
          <p:cNvSpPr txBox="1"/>
          <p:nvPr/>
        </p:nvSpPr>
        <p:spPr>
          <a:xfrm>
            <a:off x="7238848" y="5230368"/>
            <a:ext cx="33069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개선 방향</a:t>
            </a:r>
            <a:endParaRPr lang="ko-KR" alt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545775" y="4727448"/>
            <a:ext cx="86868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lnSpc>
                <a:spcPct val="120000"/>
              </a:lnSpc>
              <a:buNone/>
            </a:pPr>
            <a:r>
              <a:rPr lang="ko-KR" altLang="en-US" sz="16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</a:t>
            </a:r>
            <a:endParaRPr lang="ko-KR" alt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eaLnBrk="0" algn="r"/>
            <a:fld id="{F7021451-1387-4CA6-816F-3879F97B5CBC}" type="slidenum">
              <a:rPr b="0" lang="ko-KR" altLang="en-US"/>
              <a:t>4</a:t>
            </a:fld>
            <a:endParaRPr lang="ko-KR" alt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eaLnBrk="0" indent="0" marL="0">
              <a:buNone/>
            </a:pPr>
            <a:r>
              <a:rPr lang="ko-KR" altLang="en-US" sz="11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AVM  /  1  기술 스택</a:t>
            </a:r>
            <a:endParaRPr lang="ko-KR" alt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Python으로 </a:t>
            </a:r>
            <a:pPr eaLnBrk="0" algn="l" indent="0" marL="0">
              <a:buNone/>
            </a:pPr>
            <a:r>
              <a:rPr lang="ko-KR" altLang="en-US" sz="26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수집부터 추정까지</a:t>
            </a:r>
            <a:pPr eaLnBrk="0" algn="l" indent="0" marL="0">
              <a:buNone/>
            </a:pPr>
            <a:r>
              <a:rPr lang="ko-KR" altLang="en-US" sz="2600" b="1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구현했습니다</a:t>
            </a:r>
            <a:endParaRPr lang="ko-KR" alt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5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데이터는 공공데이터포털·VWorld 등 공공 API에서 직접 수집했습니다(버전·출처 상세는 부록 B)</a:t>
            </a:r>
            <a:endParaRPr lang="ko-KR" alt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3545738" cy="2148840"/>
          </a:xfrm>
          <a:prstGeom prst="roundRect">
            <a:avLst>
              <a:gd name="adj" fmla="val 3404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828800"/>
            <a:ext cx="29970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300" b="1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언어</a:t>
            </a:r>
            <a:endParaRPr lang="ko-KR" alt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240280"/>
            <a:ext cx="29970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20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Python</a:t>
            </a:r>
            <a:endParaRPr lang="ko-KR" alt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880360"/>
            <a:ext cx="299709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수집·분석·실행을 한 언어로</a:t>
            </a:r>
            <a:endParaRPr lang="ko-KR" alt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22978" y="1600200"/>
            <a:ext cx="3545738" cy="2148840"/>
          </a:xfrm>
          <a:prstGeom prst="roundRect">
            <a:avLst>
              <a:gd name="adj" fmla="val 3404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97298" y="1828800"/>
            <a:ext cx="29970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300" b="1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처리</a:t>
            </a:r>
            <a:endParaRPr lang="ko-KR" alt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97298" y="2240280"/>
            <a:ext cx="29970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20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pandas · numpy</a:t>
            </a:r>
            <a:endParaRPr lang="ko-KR" alt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4597298" y="2880360"/>
            <a:ext cx="299709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 데이터 결합과 정제</a:t>
            </a:r>
            <a:endParaRPr lang="ko-KR" alt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97317" y="1600200"/>
            <a:ext cx="3545738" cy="2148840"/>
          </a:xfrm>
          <a:prstGeom prst="roundRect">
            <a:avLst>
              <a:gd name="adj" fmla="val 3404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71637" y="1828800"/>
            <a:ext cx="29970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300" b="1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머신러닝</a:t>
            </a:r>
            <a:endParaRPr lang="ko-KR" alt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371637" y="2240280"/>
            <a:ext cx="29970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20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XGBoost · scikit-learn</a:t>
            </a:r>
            <a:endParaRPr lang="ko-KR" alt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8371637" y="2880360"/>
            <a:ext cx="299709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여러 방법 비교 후 최종 모델 선정</a:t>
            </a:r>
            <a:endParaRPr lang="ko-KR" alt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3977640"/>
            <a:ext cx="3545738" cy="2148840"/>
          </a:xfrm>
          <a:prstGeom prst="roundRect">
            <a:avLst>
              <a:gd name="adj" fmla="val 3404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" y="4206240"/>
            <a:ext cx="29970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300" b="1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공공 데이터</a:t>
            </a:r>
            <a:endParaRPr lang="ko-KR" alt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4617720"/>
            <a:ext cx="29970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20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공공데이터포털·VWorld</a:t>
            </a:r>
            <a:endParaRPr lang="ko-KR" alt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5257800"/>
            <a:ext cx="299709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실거래가, 공시가격, 건축물대장, 좌표</a:t>
            </a:r>
            <a:endParaRPr lang="ko-KR" alt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322978" y="3977640"/>
            <a:ext cx="3545738" cy="2148840"/>
          </a:xfrm>
          <a:prstGeom prst="roundRect">
            <a:avLst>
              <a:gd name="adj" fmla="val 3404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97298" y="4206240"/>
            <a:ext cx="29970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300" b="1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시각화·기록</a:t>
            </a:r>
            <a:endParaRPr lang="ko-KR" alt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4597298" y="4617720"/>
            <a:ext cx="29970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20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Jupyter·matplotlib·Git</a:t>
            </a:r>
            <a:endParaRPr lang="ko-KR" alt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4597298" y="5257800"/>
            <a:ext cx="299709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분석 노트북, 그래프, 작업 이력 공개</a:t>
            </a:r>
            <a:endParaRPr lang="ko-KR" alt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097317" y="3977640"/>
            <a:ext cx="3545738" cy="2148840"/>
          </a:xfrm>
          <a:prstGeom prst="roundRect">
            <a:avLst>
              <a:gd name="adj" fmla="val 3404"/>
            </a:avLst>
          </a:prstGeom>
          <a:solidFill>
            <a:srgbClr val="FBEDE7"/>
          </a:solidFill>
          <a:ln w="12700">
            <a:solidFill>
              <a:srgbClr val="FBEDE7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371637" y="4206240"/>
            <a:ext cx="29970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3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도구</a:t>
            </a:r>
            <a:endParaRPr lang="ko-KR" alt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8371637" y="4617720"/>
            <a:ext cx="29970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20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 Code</a:t>
            </a:r>
            <a:endParaRPr lang="ko-KR" alt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8371637" y="5257800"/>
            <a:ext cx="299709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 작성·점검·문서화 보조(7번 항목)</a:t>
            </a:r>
            <a:endParaRPr lang="ko-KR" alt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eaLnBrk="0" algn="r"/>
            <a:fld id="{F7021451-1387-4CA6-816F-3879F97B5CBC}" type="slidenum">
              <a:rPr b="0" lang="ko-KR" altLang="en-US"/>
              <a:t>5</a:t>
            </a:fld>
            <a:endParaRPr lang="ko-KR" alt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eaLnBrk="0" indent="0" marL="0">
              <a:buNone/>
            </a:pPr>
            <a:r>
              <a:rPr lang="ko-KR" altLang="en-US" sz="11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AVM  /  2  데이터 소스</a:t>
            </a:r>
            <a:endParaRPr lang="ko-KR" alt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공공 데이터 </a:t>
            </a:r>
            <a:pPr eaLnBrk="0" algn="l" indent="0" marL="0">
              <a:buNone/>
            </a:pPr>
            <a:r>
              <a:rPr lang="ko-KR" altLang="en-US" sz="26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8가지</a:t>
            </a:r>
            <a:pPr eaLnBrk="0" algn="l" indent="0" marL="0">
              <a:buNone/>
            </a:pPr>
            <a:r>
              <a:rPr lang="ko-KR" altLang="en-US" sz="2600" b="1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를 주소(지번) 기준으로 연결했습니다</a:t>
            </a:r>
            <a:endParaRPr lang="ko-KR" alt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5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데이터마다 얻을 수 있는 정보입니다. 다세대와 연립을 모두 포함했습니다(건수·기간 상세는 부록 B)</a:t>
            </a:r>
            <a:endParaRPr lang="ko-KR" alt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3545738" cy="1783080"/>
          </a:xfrm>
          <a:prstGeom prst="roundRect">
            <a:avLst>
              <a:gd name="adj" fmla="val 41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801368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20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실거래가</a:t>
            </a:r>
            <a:endParaRPr lang="ko-KR" alt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28600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4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거래 가격</a:t>
            </a:r>
            <a:endParaRPr lang="ko-KR" alt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74320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3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2020-10 ~ 2026-10 매매 36,997건</a:t>
            </a:r>
            <a:endParaRPr lang="ko-KR" alt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22978" y="1600200"/>
            <a:ext cx="3545738" cy="1783080"/>
          </a:xfrm>
          <a:prstGeom prst="roundRect">
            <a:avLst>
              <a:gd name="adj" fmla="val 41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97298" y="1801368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20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공시가격</a:t>
            </a:r>
            <a:endParaRPr lang="ko-KR" alt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597298" y="228600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4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정부가 매긴 호별 가격</a:t>
            </a:r>
            <a:endParaRPr lang="ko-KR" alt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597298" y="274320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3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2026년, 107,236호</a:t>
            </a:r>
            <a:endParaRPr lang="ko-KR" alt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97317" y="1600200"/>
            <a:ext cx="3545738" cy="1783080"/>
          </a:xfrm>
          <a:prstGeom prst="roundRect">
            <a:avLst>
              <a:gd name="adj" fmla="val 41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71637" y="1801368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20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건축물대장(현행·말소)</a:t>
            </a:r>
            <a:endParaRPr lang="ko-KR" alt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8371637" y="228600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4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사용승인일·승강기·층수, 철거 여부</a:t>
            </a:r>
            <a:endParaRPr lang="ko-KR" alt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71637" y="274320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3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9,928개 지번 + 말소 49,074건</a:t>
            </a:r>
            <a:endParaRPr lang="ko-KR" alt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3611880"/>
            <a:ext cx="3545738" cy="1783080"/>
          </a:xfrm>
          <a:prstGeom prst="roundRect">
            <a:avLst>
              <a:gd name="adj" fmla="val 41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" y="3813048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20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필지 좌표·땅값</a:t>
            </a:r>
            <a:endParaRPr lang="ko-KR" alt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429768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4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위치 좌표와 ㎡당 공시지가</a:t>
            </a:r>
            <a:endParaRPr lang="ko-KR" alt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475488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3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3개 구 123,615필지</a:t>
            </a:r>
            <a:endParaRPr lang="ko-KR" alt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322978" y="3611880"/>
            <a:ext cx="3545738" cy="1783080"/>
          </a:xfrm>
          <a:prstGeom prst="roundRect">
            <a:avLst>
              <a:gd name="adj" fmla="val 41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97298" y="3813048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20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지하철역</a:t>
            </a:r>
            <a:endParaRPr lang="ko-KR" alt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4597298" y="429768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4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가까운 역까지 거리</a:t>
            </a:r>
            <a:endParaRPr lang="ko-KR" alt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4597298" y="475488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3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275개 역</a:t>
            </a:r>
            <a:endParaRPr lang="ko-KR" alt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097317" y="3611880"/>
            <a:ext cx="3545738" cy="1783080"/>
          </a:xfrm>
          <a:prstGeom prst="roundRect">
            <a:avLst>
              <a:gd name="adj" fmla="val 41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371637" y="3813048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20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법정동·행정동 코드</a:t>
            </a:r>
            <a:endParaRPr lang="ko-KR" altLang="en-US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8371637" y="429768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4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주소를 고유번호(PNU)로 변환</a:t>
            </a:r>
            <a:endParaRPr lang="ko-KR" alt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8371637" y="475488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3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30개 법정동, 행정동 63개 연결</a:t>
            </a:r>
            <a:endParaRPr lang="ko-KR" alt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566928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3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좌표는 지도 서비스(Kakao 등) 대신 정부 연속지적도에서 받았습니다. 지도 서비스는 약관상 결과를 저장할 수 없기 때문입니다.</a:t>
            </a:r>
            <a:endParaRPr lang="ko-KR" alt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eaLnBrk="0" algn="r"/>
            <a:fld id="{F7021451-1387-4CA6-816F-3879F97B5CBC}" type="slidenum">
              <a:rPr b="0" lang="ko-KR" altLang="en-US"/>
              <a:t>6</a:t>
            </a:fld>
            <a:endParaRPr lang="ko-KR" alt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eaLnBrk="0" indent="0" marL="0">
              <a:buNone/>
            </a:pPr>
            <a:r>
              <a:rPr lang="ko-KR" altLang="en-US" sz="11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AVM  /  2  데이터 다듬기</a:t>
            </a:r>
            <a:endParaRPr lang="ko-KR" alt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이상 거래를 제외하고 </a:t>
            </a:r>
            <a:pPr eaLnBrk="0" algn="l" indent="0" marL="0">
              <a:buNone/>
            </a:pPr>
            <a:r>
              <a:rPr lang="ko-KR" altLang="en-US" sz="26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최근 3년</a:t>
            </a:r>
            <a:pPr eaLnBrk="0" algn="l" indent="0" marL="0">
              <a:buNone/>
            </a:pPr>
            <a:r>
              <a:rPr lang="ko-KR" altLang="en-US" sz="2600" b="1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거래로 학습했습니다</a:t>
            </a:r>
            <a:endParaRPr lang="ko-KR" alt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5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계약 취소, 시세와 동떨어진 가격(가족 간 거래 등), 철거된 옛 건물의 거래를 걸러 냈습니다</a:t>
            </a:r>
            <a:endParaRPr lang="ko-KR" alt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3931920" cy="658368"/>
          </a:xfrm>
          <a:prstGeom prst="roundRect">
            <a:avLst>
              <a:gd name="adj" fmla="val 11111"/>
            </a:avLst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600200"/>
            <a:ext cx="1280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2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36,997</a:t>
            </a:r>
            <a:endParaRPr lang="ko-KR" alt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2057400" y="1600200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받은 매매 거래</a:t>
            </a:r>
            <a:endParaRPr lang="ko-KR" alt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359152"/>
            <a:ext cx="3931920" cy="658368"/>
          </a:xfrm>
          <a:prstGeom prst="roundRect">
            <a:avLst>
              <a:gd name="adj" fmla="val 11111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2359152"/>
            <a:ext cx="1280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20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−2,188</a:t>
            </a:r>
            <a:endParaRPr lang="ko-KR" alt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2057400" y="2359152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계약이 취소된 거래</a:t>
            </a:r>
            <a:endParaRPr lang="ko-KR" alt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3118104"/>
            <a:ext cx="3931920" cy="658368"/>
          </a:xfrm>
          <a:prstGeom prst="roundRect">
            <a:avLst>
              <a:gd name="adj" fmla="val 11111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3118104"/>
            <a:ext cx="1280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20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−331</a:t>
            </a:r>
            <a:endParaRPr lang="ko-KR" alt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2057400" y="3118104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공시가격보다 지나치게 낮은 거래</a:t>
            </a:r>
            <a:endParaRPr lang="ko-KR" altLang="en-US" sz="1200" dirty="0"/>
          </a:p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(가족 간 거래 등으로 추정)</a:t>
            </a:r>
            <a:endParaRPr lang="ko-KR" alt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877056"/>
            <a:ext cx="3931920" cy="658368"/>
          </a:xfrm>
          <a:prstGeom prst="roundRect">
            <a:avLst>
              <a:gd name="adj" fmla="val 11111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3877056"/>
            <a:ext cx="1280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20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−1,115</a:t>
            </a:r>
            <a:endParaRPr lang="ko-KR" alt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2057400" y="3877056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철거된 옛 건물의 거래,</a:t>
            </a:r>
            <a:endParaRPr lang="ko-KR" altLang="en-US" sz="1200" dirty="0"/>
          </a:p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여러 호를 한꺼번에 판 거래</a:t>
            </a:r>
            <a:endParaRPr lang="ko-KR" alt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4636008"/>
            <a:ext cx="3931920" cy="658368"/>
          </a:xfrm>
          <a:prstGeom prst="roundRect">
            <a:avLst>
              <a:gd name="adj" fmla="val 11111"/>
            </a:avLst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4636008"/>
            <a:ext cx="1280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2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33,363</a:t>
            </a:r>
            <a:endParaRPr lang="ko-KR" alt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2057400" y="4636008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정제 후 거래</a:t>
            </a:r>
            <a:endParaRPr lang="ko-KR" alt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5394960"/>
            <a:ext cx="3931920" cy="658368"/>
          </a:xfrm>
          <a:prstGeom prst="roundRect">
            <a:avLst>
              <a:gd name="adj" fmla="val 11111"/>
            </a:avLst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1520" y="5394960"/>
            <a:ext cx="1280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2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14,401</a:t>
            </a:r>
            <a:endParaRPr lang="ko-KR" alt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2057400" y="5394960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학습에 쓴 최근 3년</a:t>
            </a:r>
            <a:endParaRPr lang="ko-KR" altLang="en-US" sz="1200" dirty="0"/>
          </a:p>
        </p:txBody>
      </p:sp>
      <p:pic>
        <p:nvPicPr>
          <p:cNvPr id="23" name="Image 0" descr="C:\DA_WorkSpace\DA_Seoul_Villa_AVM\outputs\figures\eda_A1_monthly_volu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4880" y="1629149"/>
            <a:ext cx="6903720" cy="2822461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4937760" y="4709160"/>
            <a:ext cx="6675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거래량은 2021년에 가장 많았고 2023년까지 크게 줄었습니다. 시장 상황이 달라 오래된 거래는 현재 시세와 잘 맞지 않습니다</a:t>
            </a:r>
            <a:endParaRPr lang="ko-KR" altLang="en-US" sz="1300" dirty="0"/>
          </a:p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학습 기간 3년·5년·6년을 같은 방식으로 검증한 결과, 최근 3년이 가장 정확했습니다(처음 보는 건물 기준 적중 10건 중 7.5건 → 8건)</a:t>
            </a:r>
            <a:endParaRPr lang="ko-KR" alt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eaLnBrk="0" algn="r"/>
            <a:fld id="{F7021451-1387-4CA6-816F-3879F97B5CBC}" type="slidenum">
              <a:rPr b="0" lang="ko-KR" altLang="en-US"/>
              <a:t>7</a:t>
            </a:fld>
            <a:endParaRPr lang="ko-KR" alt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eaLnBrk="0" indent="0" marL="0">
              <a:buNone/>
            </a:pPr>
            <a:r>
              <a:rPr lang="ko-KR" altLang="en-US" sz="11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AVM  /  3  시세 요인</a:t>
            </a:r>
            <a:endParaRPr lang="ko-KR" alt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공시가격 하나로 실제 가격 차이의 </a:t>
            </a:r>
            <a:pPr eaLnBrk="0" algn="l" indent="0" marL="0">
              <a:buNone/>
            </a:pPr>
            <a:r>
              <a:rPr lang="ko-KR" altLang="en-US" sz="26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87%</a:t>
            </a:r>
            <a:pPr eaLnBrk="0" algn="l" indent="0" marL="0">
              <a:buNone/>
            </a:pPr>
            <a:r>
              <a:rPr lang="ko-KR" altLang="en-US" sz="2600" b="1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를 설명할 수 있습니다</a:t>
            </a:r>
            <a:endParaRPr lang="ko-KR" alt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5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그래서 공시가격을 추정의 출발점으로 삼았습니다. 실거래가는 보통 공시가격의 1.76배입니다</a:t>
            </a:r>
            <a:endParaRPr lang="ko-KR" altLang="en-US" sz="1500" dirty="0"/>
          </a:p>
        </p:txBody>
      </p:sp>
      <p:pic>
        <p:nvPicPr>
          <p:cNvPr id="5" name="Image 0" descr="C:\DA_WorkSpace\DA_Seoul_Villa_AVM\outputs\figures\eda_B1_price_vs_publi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4694"/>
            <a:ext cx="4572000" cy="4288692"/>
          </a:xfrm>
          <a:prstGeom prst="rect">
            <a:avLst/>
          </a:prstGeom>
        </p:spPr>
      </p:pic>
      <p:pic>
        <p:nvPicPr>
          <p:cNvPr id="6" name="Image 1" descr="C:\DA_WorkSpace\DA_Seoul_Villa_AVM\outputs\figures\eda_B2_r2_single_featur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6473" y="1508760"/>
            <a:ext cx="5994894" cy="26974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577840" y="4434840"/>
            <a:ext cx="6035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왼쪽: 점 하나가 거래 1건입니다. 공시가격이 높을수록 실거래가도 높아 점들이 한 줄로 모입니다</a:t>
            </a:r>
            <a:endParaRPr lang="ko-KR" altLang="en-US" sz="1300" dirty="0"/>
          </a:p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오른쪽: 요인별 설명력입니다. 공시가격 하나(87%)가 면적·지역·땅값·연식·역·층을 모두 합친 것(72%)보다 큽니다</a:t>
            </a:r>
            <a:endParaRPr lang="ko-KR" altLang="en-US" sz="1300" dirty="0"/>
          </a:p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공시가격은 정부가 위치·면적·층·연식을 따져 호마다 매긴 가격이라 이미 많은 정보를 담고 있습니다</a:t>
            </a:r>
            <a:endParaRPr lang="ko-KR" alt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eaLnBrk="0" algn="r"/>
            <a:fld id="{F7021451-1387-4CA6-816F-3879F97B5CBC}" type="slidenum">
              <a:rPr b="0" lang="ko-KR" altLang="en-US"/>
              <a:t>8</a:t>
            </a:fld>
            <a:endParaRPr lang="ko-KR" alt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eaLnBrk="0" indent="0" marL="0">
              <a:buNone/>
            </a:pPr>
            <a:r>
              <a:rPr lang="ko-KR" altLang="en-US" sz="11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AVM  /  3  시세 요인</a:t>
            </a:r>
            <a:endParaRPr lang="ko-KR" alt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공시가격이 덜 반영하는 요인: </a:t>
            </a:r>
            <a:pPr eaLnBrk="0" algn="l" indent="0" marL="0">
              <a:buNone/>
            </a:pPr>
            <a:r>
              <a:rPr lang="ko-KR" altLang="en-US" sz="26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 건물과 저층</a:t>
            </a:r>
            <a:endParaRPr lang="ko-KR" alt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5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공시가격이 같아도 노후 건물·지하·1층은 공시가격 대비 더 높게 거래됩니다. 이 차이를 머신러닝으로 보정했습니다</a:t>
            </a:r>
            <a:endParaRPr lang="ko-KR" altLang="en-US" sz="1500" dirty="0"/>
          </a:p>
        </p:txBody>
      </p:sp>
      <p:pic>
        <p:nvPicPr>
          <p:cNvPr id="5" name="Image 0" descr="C:\DA_WorkSpace\DA_Seoul_Villa_AVM\outputs\figures\eda_C1_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3569" y="1554480"/>
            <a:ext cx="6576702" cy="2377440"/>
          </a:xfrm>
          <a:prstGeom prst="rect">
            <a:avLst/>
          </a:prstGeom>
        </p:spPr>
      </p:pic>
      <p:pic>
        <p:nvPicPr>
          <p:cNvPr id="6" name="Image 1" descr="C:\DA_WorkSpace\DA_Seoul_Villa_AVM\outputs\figures\eda_C2_flo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789" y="3977640"/>
            <a:ext cx="6566263" cy="237744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7589520" y="1600200"/>
            <a:ext cx="4050792" cy="4572000"/>
          </a:xfrm>
          <a:prstGeom prst="roundRect">
            <a:avLst>
              <a:gd name="adj" fmla="val 1806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818120" y="1828800"/>
            <a:ext cx="36118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왼쪽 그래프: 새 건물일수록 ㎡당 가격이 높습니다</a:t>
            </a:r>
            <a:endParaRPr lang="ko-KR" altLang="en-US" sz="1300" dirty="0"/>
          </a:p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오른쪽 그래프: 그러나 '실거래가 ÷ 공시가격' 배율은 노후 건물이 더 높습니다(강남 1.77배 → 2.12배). 재개발 기대가 공시가격에 덜 반영된 것으로 보입니다</a:t>
            </a:r>
            <a:endParaRPr lang="ko-KR" altLang="en-US" sz="1300" dirty="0"/>
          </a:p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지하층의 ㎡당 가격은 지상의 54～59%이고, 배율은 지하·1층이 높습니다</a:t>
            </a:r>
            <a:endParaRPr lang="ko-KR" altLang="en-US" sz="1300" dirty="0"/>
          </a:p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차이를 연식·층·승강기·면적·위치 정보로 보정합니다</a:t>
            </a:r>
            <a:endParaRPr lang="ko-KR" alt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eaLnBrk="0" algn="r"/>
            <a:fld id="{F7021451-1387-4CA6-816F-3879F97B5CBC}" type="slidenum">
              <a:rPr b="0" lang="ko-KR" altLang="en-US"/>
              <a:t>9</a:t>
            </a:fld>
            <a:endParaRPr lang="ko-KR" alt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eaLnBrk="0" indent="0" marL="0">
              <a:buNone/>
            </a:pPr>
            <a:r>
              <a:rPr lang="ko-KR" altLang="en-US" sz="11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AVM  /  3  시세 요인</a:t>
            </a:r>
            <a:endParaRPr lang="ko-KR" alt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사용한 정보와 제외한 정보: </a:t>
            </a:r>
            <a:pPr eaLnBrk="0" algn="l" indent="0" marL="0">
              <a:buNone/>
            </a:pPr>
            <a:r>
              <a:rPr lang="ko-KR" altLang="en-US" sz="26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주소와 층으로 알 수 있는 것만</a:t>
            </a:r>
            <a:pPr eaLnBrk="0" algn="l" indent="0" marL="0">
              <a:buNone/>
            </a:pPr>
            <a:r>
              <a:rPr lang="ko-KR" altLang="en-US" sz="2600" b="1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사용했습니다</a:t>
            </a:r>
            <a:endParaRPr lang="ko-KR" alt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5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추정 시점에 알 수 없는 정보(예: 직거래 여부)는 가격에 영향이 커도 사용할 수 없습니다</a:t>
            </a:r>
            <a:endParaRPr lang="ko-KR" alt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410048" cy="3657600"/>
          </a:xfrm>
          <a:prstGeom prst="roundRect">
            <a:avLst>
              <a:gd name="adj" fmla="val 2000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7373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8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사용한 정보</a:t>
            </a:r>
            <a:endParaRPr lang="ko-KR" alt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240280"/>
            <a:ext cx="486140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4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공시가격, 동네 실거래 배율, 시기별 시세 변화</a:t>
            </a:r>
            <a:endParaRPr lang="ko-KR" altLang="en-US" sz="1400" dirty="0"/>
          </a:p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4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연식 · 층(지하·꼭대기 층 여부) · 건물 층수 · 전용면적</a:t>
            </a:r>
            <a:endParaRPr lang="ko-KR" altLang="en-US" sz="1400" dirty="0"/>
          </a:p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4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승강기 · 세대수 · 세대당 주차</a:t>
            </a:r>
            <a:endParaRPr lang="ko-KR" altLang="en-US" sz="1400" dirty="0"/>
          </a:p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4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지하철역 거리 · 땅값 · 위치(좌표) · 지역</a:t>
            </a:r>
            <a:endParaRPr lang="ko-KR" altLang="en-US" sz="1400" dirty="0"/>
          </a:p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4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머신러닝 중요도가 높은 정보: 연식 · 지역 · 층 · 건물 층수 · 면적 · 위치</a:t>
            </a:r>
            <a:endParaRPr lang="ko-KR" alt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33008" y="1600200"/>
            <a:ext cx="5410048" cy="3657600"/>
          </a:xfrm>
          <a:prstGeom prst="roundRect">
            <a:avLst>
              <a:gd name="adj" fmla="val 2000"/>
            </a:avLst>
          </a:prstGeom>
          <a:solidFill>
            <a:srgbClr val="FBEDE7"/>
          </a:solidFill>
          <a:ln w="12700">
            <a:solidFill>
              <a:srgbClr val="FBED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07328" y="17373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8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제외한 정보와 이유</a:t>
            </a:r>
            <a:endParaRPr lang="ko-KR" alt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507328" y="2240280"/>
            <a:ext cx="486140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4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직거래 여부, 매도·매수인 정보: 추정 시점에 알 수 없음</a:t>
            </a:r>
            <a:endParaRPr lang="ko-KR" altLang="en-US" sz="1400" dirty="0"/>
          </a:p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4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전월세: 전세금은 매매가와 성격이 다름</a:t>
            </a:r>
            <a:endParaRPr lang="ko-KR" altLang="en-US" sz="1400" dirty="0"/>
          </a:p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4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건축년도: 연식과 중복 / 동 수: 세대수와 거의 중복</a:t>
            </a:r>
            <a:endParaRPr lang="ko-KR" altLang="en-US" sz="1400" dirty="0"/>
          </a:p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4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구조: 90%가 철근콘크리트라 구별력이 없음</a:t>
            </a:r>
            <a:endParaRPr lang="ko-KR" altLang="en-US" sz="1400" dirty="0"/>
          </a:p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4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학교·공원 거리: 기간 내 반영하지 못함(개선안)</a:t>
            </a:r>
            <a:endParaRPr lang="ko-KR" alt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eaLnBrk="0" algn="r"/>
            <a:fld id="{F7021451-1387-4CA6-816F-3879F97B5CBC}" type="slidenum">
              <a:rPr b="0" lang="ko-KR" altLang="en-US"/>
              <a:t>10</a:t>
            </a:fld>
            <a:endParaRPr lang="ko-KR" alt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eaLnBrk="0" indent="0" marL="0">
              <a:buNone/>
            </a:pPr>
            <a:r>
              <a:rPr lang="ko-KR" altLang="en-US" sz="11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AVM  /  4  모델 설계</a:t>
            </a:r>
            <a:endParaRPr lang="ko-KR" alt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주소 한 줄이 </a:t>
            </a:r>
            <a:pPr eaLnBrk="0" algn="l" indent="0" marL="0">
              <a:buNone/>
            </a:pPr>
            <a:r>
              <a:rPr lang="ko-KR" altLang="en-US" sz="26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시세·범위·신뢰도·근거</a:t>
            </a:r>
            <a:pPr eaLnBrk="0" algn="l" indent="0" marL="0">
              <a:buNone/>
            </a:pPr>
            <a:r>
              <a:rPr lang="ko-KR" altLang="en-US" sz="2600" b="1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 되는 과정</a:t>
            </a:r>
            <a:endParaRPr lang="ko-KR" alt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5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실행할 때마다 최신 거래로 다시 계산하므로, 새 거래가 쌓이면 다시 실행하는 것만으로 반영됩니다</a:t>
            </a:r>
            <a:endParaRPr lang="ko-KR" alt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2514600" cy="1325880"/>
          </a:xfrm>
          <a:prstGeom prst="roundRect">
            <a:avLst>
              <a:gd name="adj" fmla="val 551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801368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5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입력</a:t>
            </a:r>
            <a:endParaRPr lang="ko-KR" alt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19456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구·동·지번·층</a:t>
            </a:r>
            <a:endParaRPr lang="ko-KR" altLang="en-US" sz="1200" dirty="0"/>
          </a:p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호·면적(빈칸 허용)</a:t>
            </a:r>
            <a:endParaRPr lang="ko-KR" alt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108960" y="2354580"/>
            <a:ext cx="246888" cy="0"/>
          </a:xfrm>
          <a:prstGeom prst="line">
            <a:avLst/>
          </a:prstGeom>
          <a:noFill/>
          <a:ln w="19050">
            <a:solidFill>
              <a:srgbClr val="8A8984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401568" y="1691640"/>
            <a:ext cx="2514600" cy="1325880"/>
          </a:xfrm>
          <a:prstGeom prst="roundRect">
            <a:avLst>
              <a:gd name="adj" fmla="val 551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584448" y="1801368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5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 주소 확인</a:t>
            </a:r>
            <a:endParaRPr lang="ko-KR" alt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584448" y="219456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고유번호(PNU)로 변환</a:t>
            </a:r>
            <a:endParaRPr lang="ko-KR" altLang="en-US" sz="1200" dirty="0"/>
          </a:p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권역 밖이면 사유와 함께 실패 처리</a:t>
            </a:r>
            <a:endParaRPr lang="ko-KR" alt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961888" y="2354580"/>
            <a:ext cx="246888" cy="0"/>
          </a:xfrm>
          <a:prstGeom prst="line">
            <a:avLst/>
          </a:prstGeom>
          <a:noFill/>
          <a:ln w="19050">
            <a:solidFill>
              <a:srgbClr val="8A8984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254496" y="1691640"/>
            <a:ext cx="2514600" cy="1325880"/>
          </a:xfrm>
          <a:prstGeom prst="roundRect">
            <a:avLst>
              <a:gd name="adj" fmla="val 551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37376" y="1801368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5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 공시가격 찾기</a:t>
            </a:r>
            <a:endParaRPr lang="ko-KR" alt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437376" y="219456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수집 데이터에 없으면</a:t>
            </a:r>
            <a:endParaRPr lang="ko-KR" altLang="en-US" sz="1200" dirty="0"/>
          </a:p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실행 중 공공 API 조회</a:t>
            </a:r>
            <a:endParaRPr lang="ko-KR" alt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814816" y="2354580"/>
            <a:ext cx="246888" cy="0"/>
          </a:xfrm>
          <a:prstGeom prst="line">
            <a:avLst/>
          </a:prstGeom>
          <a:noFill/>
          <a:ln w="19050">
            <a:solidFill>
              <a:srgbClr val="8A8984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9107424" y="1691640"/>
            <a:ext cx="2514600" cy="1325880"/>
          </a:xfrm>
          <a:prstGeom prst="roundRect">
            <a:avLst>
              <a:gd name="adj" fmla="val 5517"/>
            </a:avLst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290304" y="1801368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④ 기본 추정</a:t>
            </a:r>
            <a:endParaRPr lang="ko-KR" alt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9290304" y="219456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공시가격 × 실거래 배율</a:t>
            </a:r>
            <a:endParaRPr lang="ko-KR" altLang="en-US" sz="1200" dirty="0"/>
          </a:p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(같은 건물 거래 우선)</a:t>
            </a:r>
            <a:endParaRPr lang="ko-KR" alt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107424" y="3977640"/>
            <a:ext cx="2514600" cy="1325880"/>
          </a:xfrm>
          <a:prstGeom prst="roundRect">
            <a:avLst>
              <a:gd name="adj" fmla="val 5517"/>
            </a:avLst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290304" y="4087368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⑤ 머신러닝 보정</a:t>
            </a:r>
            <a:endParaRPr lang="ko-KR" alt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9290304" y="448056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연식·층·위치 등으로</a:t>
            </a:r>
            <a:endParaRPr lang="ko-KR" altLang="en-US" sz="1200" dirty="0"/>
          </a:p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기본 추정 보정</a:t>
            </a:r>
            <a:endParaRPr lang="ko-KR" alt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814816" y="4640580"/>
            <a:ext cx="246888" cy="0"/>
          </a:xfrm>
          <a:prstGeom prst="line">
            <a:avLst/>
          </a:prstGeom>
          <a:noFill/>
          <a:ln w="19050">
            <a:solidFill>
              <a:srgbClr val="8A8984"/>
            </a:solidFill>
            <a:prstDash val="solid"/>
            <a:headEnd type="triangle"/>
          </a:ln>
        </p:spPr>
      </p:sp>
      <p:sp>
        <p:nvSpPr>
          <p:cNvPr id="24" name="Shape 22"/>
          <p:cNvSpPr/>
          <p:nvPr/>
        </p:nvSpPr>
        <p:spPr>
          <a:xfrm>
            <a:off x="6254496" y="3977640"/>
            <a:ext cx="2514600" cy="1325880"/>
          </a:xfrm>
          <a:prstGeom prst="roundRect">
            <a:avLst>
              <a:gd name="adj" fmla="val 5517"/>
            </a:avLst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37376" y="4087368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⑥ 추정값</a:t>
            </a:r>
            <a:endParaRPr lang="ko-KR" alt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6437376" y="448056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보정한 두 값의 평균</a:t>
            </a:r>
            <a:endParaRPr lang="ko-KR" alt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961888" y="4640580"/>
            <a:ext cx="246888" cy="0"/>
          </a:xfrm>
          <a:prstGeom prst="line">
            <a:avLst/>
          </a:prstGeom>
          <a:noFill/>
          <a:ln w="19050">
            <a:solidFill>
              <a:srgbClr val="8A8984"/>
            </a:solidFill>
            <a:prstDash val="solid"/>
            <a:headEnd type="triangle"/>
          </a:ln>
        </p:spPr>
      </p:sp>
      <p:sp>
        <p:nvSpPr>
          <p:cNvPr id="28" name="Shape 26"/>
          <p:cNvSpPr/>
          <p:nvPr/>
        </p:nvSpPr>
        <p:spPr>
          <a:xfrm>
            <a:off x="3401568" y="3977640"/>
            <a:ext cx="2514600" cy="1325880"/>
          </a:xfrm>
          <a:prstGeom prst="roundRect">
            <a:avLst>
              <a:gd name="adj" fmla="val 5517"/>
            </a:avLst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584448" y="4087368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⑦ 범위·신뢰도</a:t>
            </a:r>
            <a:endParaRPr lang="ko-KR" alt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3584448" y="448056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비슷한 물건의 과거 오차로</a:t>
            </a:r>
            <a:endParaRPr lang="ko-KR" altLang="en-US" sz="1200" dirty="0"/>
          </a:p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80% 범위·신뢰도 산출</a:t>
            </a:r>
            <a:endParaRPr lang="ko-KR" alt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108960" y="4640580"/>
            <a:ext cx="246888" cy="0"/>
          </a:xfrm>
          <a:prstGeom prst="line">
            <a:avLst/>
          </a:prstGeom>
          <a:noFill/>
          <a:ln w="19050">
            <a:solidFill>
              <a:srgbClr val="8A8984"/>
            </a:solidFill>
            <a:prstDash val="solid"/>
            <a:headEnd type="triangle"/>
          </a:ln>
        </p:spPr>
      </p:sp>
      <p:sp>
        <p:nvSpPr>
          <p:cNvPr id="32" name="Shape 30"/>
          <p:cNvSpPr/>
          <p:nvPr/>
        </p:nvSpPr>
        <p:spPr>
          <a:xfrm>
            <a:off x="548640" y="3977640"/>
            <a:ext cx="2514600" cy="1325880"/>
          </a:xfrm>
          <a:prstGeom prst="roundRect">
            <a:avLst>
              <a:gd name="adj" fmla="val 551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31520" y="4087368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5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⑧ 출력</a:t>
            </a:r>
            <a:endParaRPr lang="ko-KR" alt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731520" y="448056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추정·하한·상한·신뢰도</a:t>
            </a:r>
            <a:endParaRPr lang="ko-KR" altLang="en-US" sz="1200" dirty="0"/>
          </a:p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 한 줄</a:t>
            </a:r>
            <a:endParaRPr lang="ko-KR" alt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10364724" y="3063240"/>
            <a:ext cx="0" cy="868680"/>
          </a:xfrm>
          <a:prstGeom prst="line">
            <a:avLst/>
          </a:prstGeom>
          <a:noFill/>
          <a:ln w="19050">
            <a:solidFill>
              <a:srgbClr val="8A8984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548640" y="56235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3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⑤의 두 값은 건물 특징만으로 직접 낸 가격과, ④가 빗나갈 정도를 예측해 고친 가격입니다. 장단점이 달라 두 값의 평균을 씁니다</a:t>
            </a:r>
            <a:endParaRPr lang="ko-KR" alt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eaLnBrk="0" algn="r"/>
            <a:fld id="{F7021451-1387-4CA6-816F-3879F97B5CBC}" type="slidenum">
              <a:rPr b="0" lang="ko-KR" altLang="en-US"/>
              <a:t>11</a:t>
            </a:fld>
            <a:endParaRPr lang="ko-KR" alt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eaLnBrk="0" indent="0" marL="0">
              <a:buNone/>
            </a:pPr>
            <a:r>
              <a:rPr lang="ko-KR" altLang="en-US" sz="11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AVM  /  4  모델 설계</a:t>
            </a:r>
            <a:endParaRPr lang="ko-KR" alt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13가지 방법을 같은 조건으로 비교해 </a:t>
            </a:r>
            <a:pPr eaLnBrk="0" algn="l" indent="0" marL="0">
              <a:buNone/>
            </a:pPr>
            <a:r>
              <a:rPr lang="ko-KR" altLang="en-US" sz="26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안정적인 방법</a:t>
            </a:r>
            <a:pPr eaLnBrk="0" algn="l" indent="0" marL="0">
              <a:buNone/>
            </a:pPr>
            <a:r>
              <a:rPr lang="ko-KR" altLang="en-US" sz="2600" b="1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을 선택했습니다</a:t>
            </a:r>
            <a:endParaRPr lang="ko-KR" alt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5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 방식: 일부 건물을 따로 떼어 두고, 나머지로 학습한 뒤 떼어 둔 건물의 실거래가를 맞혔습니다</a:t>
            </a:r>
            <a:endParaRPr lang="ko-KR" altLang="en-US" sz="15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600200"/>
          <a:ext cx="566928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92240" y="1600200"/>
          <a:ext cx="5150815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4007815"/>
              </a:tblGrid>
              <a:tr h="36576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내용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후보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선형 회귀 · 비슷한 거래 평균 · 랜덤포레스트 · XGBoost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× 계산 방식 3가지 + 기본 추정 = 13가지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검증 상황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① 처음 보는 건물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② 과거 거래가 있는 건물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③ 1년 전 모델로 1년 뒤 예측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데이터 분리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건물 단위로 분리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(같은 건물이 학습·검증에 섞이면 성적이 부풀려짐)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선정 기준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결과를 보기 전에 확정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2,000회 재표본으로 차이가 우연인지 확인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1B264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선택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AF6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1B264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XGBoost(두 방식의 평균): 세 상황 모두 상위권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eaLnBrk="0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1B264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랜덤포레스트 잔차 방식은 한 상황 78.8%였으나 다른 상황에서 순위가 낮음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AF6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548640" y="6355080"/>
            <a:ext cx="101800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000" dirty="0">
                <a:solidFill>
                  <a:srgbClr val="8A898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기술 용어(GroupKFold·그리드서치·부트스트랩)와 상세 결과는 부록 D · 그래프는 학습 기간 6년으로 비교할 당시의 값</a:t>
            </a:r>
            <a:endParaRPr lang="ko-KR" alt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eaLnBrk="0" algn="r"/>
            <a:fld id="{F7021451-1387-4CA6-816F-3879F97B5CBC}" type="slidenum">
              <a:rPr b="0" lang="ko-KR" altLang="en-US"/>
              <a:t>12</a:t>
            </a:fld>
            <a:endParaRPr lang="ko-KR" alt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eaLnBrk="0" indent="0" marL="0">
              <a:buNone/>
            </a:pPr>
            <a:r>
              <a:rPr lang="ko-KR" altLang="en-US" sz="11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AVM  /  5  자체 검증</a:t>
            </a:r>
            <a:endParaRPr lang="ko-KR" alt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학습에 쓰지 않은 632개 건물로 검증한 결과, </a:t>
            </a:r>
            <a:pPr eaLnBrk="0" algn="l" indent="0" marL="0">
              <a:buNone/>
            </a:pPr>
            <a:r>
              <a:rPr lang="ko-KR" altLang="en-US" sz="26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10건 중 8건이 ±20% 안</a:t>
            </a:r>
            <a:pPr eaLnBrk="0" algn="l" indent="0" marL="0">
              <a:buNone/>
            </a:pPr>
            <a:r>
              <a:rPr lang="ko-KR" altLang="en-US" sz="2600" b="1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 들었습니다</a:t>
            </a:r>
            <a:endParaRPr lang="ko-KR" alt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5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최근 1년 거래가 있는 건물 3,159개 중 632개를 미리 떼어 두고, 건물마다 가장 최근 거래가를 맞혔습니다</a:t>
            </a:r>
            <a:endParaRPr lang="ko-KR" altLang="en-US" sz="15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560320"/>
                <a:gridCol w="2377440"/>
                <a:gridCol w="2864815"/>
              </a:tblGrid>
              <a:tr h="566928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검증 상황</a:t>
                      </a:r>
                      <a:endParaRPr lang="ko-KR" alt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보통 오차(중앙값)</a:t>
                      </a:r>
                      <a:endParaRPr lang="ko-KR" alt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±20% 안에 든 비율</a:t>
                      </a:r>
                      <a:endParaRPr lang="ko-KR" alt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실제 가격이 80% 범위 안에 든 비율</a:t>
                      </a:r>
                      <a:endParaRPr lang="ko-KR" alt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5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처음 보는 건물</a:t>
                      </a:r>
                      <a:endParaRPr lang="ko-KR" alt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500" b="1" dirty="0">
                          <a:solidFill>
                            <a:srgbClr val="1B264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9.4%</a:t>
                      </a:r>
                      <a:endParaRPr lang="ko-KR" alt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AF6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500" b="1" dirty="0">
                          <a:solidFill>
                            <a:srgbClr val="1B264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78.5%</a:t>
                      </a:r>
                      <a:endParaRPr lang="ko-KR" alt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AF6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5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82.9%</a:t>
                      </a:r>
                      <a:endParaRPr lang="ko-KR" alt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5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과거 거래가 있는 건물</a:t>
                      </a:r>
                      <a:endParaRPr lang="ko-KR" alt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500" b="1" dirty="0">
                          <a:solidFill>
                            <a:srgbClr val="1B264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8.6%</a:t>
                      </a:r>
                      <a:endParaRPr lang="ko-KR" alt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AF6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500" b="1" dirty="0">
                          <a:solidFill>
                            <a:srgbClr val="1B264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80.1%</a:t>
                      </a:r>
                      <a:endParaRPr lang="ko-KR" alt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AF6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5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80.7%</a:t>
                      </a:r>
                      <a:endParaRPr lang="ko-KR" alt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5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(비교) 기본 추정만 사용</a:t>
                      </a:r>
                      <a:endParaRPr lang="ko-KR" alt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5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11.1% / 10.7%</a:t>
                      </a:r>
                      <a:endParaRPr lang="ko-KR" alt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5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71.7% / 73.9%</a:t>
                      </a:r>
                      <a:endParaRPr lang="ko-KR" alt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5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69.8% / 67.7%</a:t>
                      </a:r>
                      <a:endParaRPr lang="ko-KR" alt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40690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3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지역별 결과(과거 거래가 있는 건물): 보통 오차 · ±20% 적중</a:t>
            </a:r>
            <a:endParaRPr lang="ko-KR" alt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48640" y="4480560"/>
            <a:ext cx="2194560" cy="1097280"/>
          </a:xfrm>
          <a:prstGeom prst="roundRect">
            <a:avLst>
              <a:gd name="adj" fmla="val 666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45720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3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강서 화곡동</a:t>
            </a:r>
            <a:endParaRPr lang="ko-KR" alt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4892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8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8.4%  ·  80%</a:t>
            </a:r>
            <a:endParaRPr lang="ko-KR" alt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2926080" y="4480560"/>
            <a:ext cx="2194560" cy="1097280"/>
          </a:xfrm>
          <a:prstGeom prst="roundRect">
            <a:avLst>
              <a:gd name="adj" fmla="val 666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108960" y="45720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3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관악구</a:t>
            </a:r>
            <a:endParaRPr lang="ko-KR" alt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3108960" y="4892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8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8.3%  ·  84%</a:t>
            </a:r>
            <a:endParaRPr lang="ko-KR" alt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5303520" y="4480560"/>
            <a:ext cx="2194560" cy="1097280"/>
          </a:xfrm>
          <a:prstGeom prst="roundRect">
            <a:avLst>
              <a:gd name="adj" fmla="val 666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0" y="45720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3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강남구</a:t>
            </a:r>
            <a:endParaRPr lang="ko-KR" alt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0" y="4892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8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9.7%  ·  73%</a:t>
            </a:r>
            <a:endParaRPr lang="ko-KR" alt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7772400" y="4480560"/>
            <a:ext cx="3867912" cy="1097280"/>
          </a:xfrm>
          <a:prstGeom prst="roundRect">
            <a:avLst>
              <a:gd name="adj" fmla="val 6667"/>
            </a:avLst>
          </a:prstGeom>
          <a:solidFill>
            <a:srgbClr val="E3EAF6"/>
          </a:solidFill>
          <a:ln w="12700">
            <a:solidFill>
              <a:srgbClr val="E3EAF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955280" y="457200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처음 세운 목표(보통 오차 10% 이하, ±20% 적중 75% 이상, 범위 포함 70～90%)를 모두 달성했습니다</a:t>
            </a:r>
            <a:endParaRPr lang="ko-KR" alt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6355080"/>
            <a:ext cx="101800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000" dirty="0">
                <a:solidFill>
                  <a:srgbClr val="8A898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면적을 비워 넣은 경우와 평균 오차(MAPE) 등 상세는 부록 C · 비교 행은 처음 보는 건물 / 과거 거래가 있는 건물 순</a:t>
            </a:r>
            <a:endParaRPr lang="ko-KR" alt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eaLnBrk="0" algn="r"/>
            <a:fld id="{F7021451-1387-4CA6-816F-3879F97B5CBC}" type="slidenum">
              <a:rPr b="0" lang="ko-KR" altLang="en-US"/>
              <a:t>13</a:t>
            </a:fld>
            <a:endParaRPr lang="ko-KR" alt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eaLnBrk="0" indent="0" marL="0">
              <a:buNone/>
            </a:pPr>
            <a:r>
              <a:rPr lang="ko-KR" altLang="en-US" sz="11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AVM  /  5  자체 검증</a:t>
            </a:r>
            <a:endParaRPr lang="ko-KR" alt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신뢰도가 높은 물건일수록 </a:t>
            </a:r>
            <a:pPr eaLnBrk="0" algn="l" indent="0" marL="0">
              <a:buNone/>
            </a:pPr>
            <a:r>
              <a:rPr lang="ko-KR" altLang="en-US" sz="26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오차가 작았습니다</a:t>
            </a:r>
            <a:endParaRPr lang="ko-KR" alt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5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보통 오차는 신뢰도 0.6 이하 물건 17%, 0.8 초과 물건 7%이고, ±20% 적중률은 62%에서 86%로 높아졌습니다</a:t>
            </a:r>
            <a:endParaRPr lang="ko-KR" altLang="en-US" sz="1500" dirty="0"/>
          </a:p>
        </p:txBody>
      </p:sp>
      <p:pic>
        <p:nvPicPr>
          <p:cNvPr id="5" name="Image 0" descr="C:\DA_WorkSpace\DA_Seoul_Villa_AVM\outputs\figures\eda_D1_pred_vs_actual_reliabil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59021"/>
            <a:ext cx="7498080" cy="3562917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275320" y="1600200"/>
            <a:ext cx="3364992" cy="1600200"/>
          </a:xfrm>
          <a:prstGeom prst="roundRect">
            <a:avLst>
              <a:gd name="adj" fmla="val 4571"/>
            </a:avLst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503920" y="17373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300" b="1" dirty="0">
                <a:solidFill>
                  <a:srgbClr val="C9D3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높은 신뢰도 0.88</a:t>
            </a:r>
            <a:endParaRPr lang="ko-KR" alt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503920" y="20574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174건 중 91% 적중</a:t>
            </a:r>
            <a:endParaRPr lang="ko-KR" alt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8503920" y="26060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C9D3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보통 오차 7.0% (과거 거래가 있는 건물)</a:t>
            </a:r>
            <a:endParaRPr lang="ko-KR" alt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275320" y="3383280"/>
            <a:ext cx="3364992" cy="2651760"/>
          </a:xfrm>
          <a:prstGeom prst="roundRect">
            <a:avLst>
              <a:gd name="adj" fmla="val 2759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503920" y="3566160"/>
            <a:ext cx="2926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왼쪽: 대각선 띠(±20%) 안의 점이 많을수록 정확합니다. 632건 중 80%가 띠 안에 있습니다</a:t>
            </a:r>
            <a:endParaRPr lang="ko-KR" altLang="en-US" sz="1200" dirty="0"/>
          </a:p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오른쪽: 표시한 신뢰도와 실제 적중률이 거의 같습니다(0.56→62%, 0.77→77%, 0.86→86%)</a:t>
            </a:r>
            <a:endParaRPr lang="ko-KR" altLang="en-US" sz="1200" dirty="0"/>
          </a:p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동네 가격 편차가 크거나 소형·강남·지하층·노후 건물이면 신뢰도를 낮게 계산합니다</a:t>
            </a:r>
            <a:endParaRPr lang="ko-KR" alt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eaLnBrk="0" algn="r"/>
            <a:fld id="{F7021451-1387-4CA6-816F-3879F97B5CBC}" type="slidenum">
              <a:rPr b="0" lang="ko-KR" altLang="en-US"/>
              <a:t>14</a:t>
            </a:fld>
            <a:endParaRPr lang="ko-KR" alt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eaLnBrk="0" indent="0" marL="0">
              <a:buNone/>
            </a:pPr>
            <a:r>
              <a:rPr lang="ko-KR" altLang="en-US" sz="11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AVM  /  5  자체 검증</a:t>
            </a:r>
            <a:endParaRPr lang="ko-KR" alt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잘 맞힌 경우: 검증 건물의 </a:t>
            </a:r>
            <a:pPr eaLnBrk="0" algn="l" indent="0" marL="0">
              <a:buNone/>
            </a:pPr>
            <a:r>
              <a:rPr lang="ko-KR" altLang="en-US" sz="26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30%는 오차 5% 이내</a:t>
            </a:r>
            <a:pPr eaLnBrk="0" algn="l" indent="0" marL="0">
              <a:buNone/>
            </a:pPr>
            <a:r>
              <a:rPr lang="ko-KR" altLang="en-US" sz="2600" b="1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였습니다</a:t>
            </a:r>
            <a:endParaRPr lang="ko-KR" alt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5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632건 중 192건이 실거래가 ±5% 안에 들었습니다. 아래는 권역별로 오차가 가장 작았던 중개거래입니다</a:t>
            </a:r>
            <a:endParaRPr lang="ko-KR" alt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3108960" cy="1463040"/>
          </a:xfrm>
          <a:prstGeom prst="roundRect">
            <a:avLst>
              <a:gd name="adj" fmla="val 5000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764792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36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ko-KR" altLang="en-US" sz="3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5146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오차 5% 이내(632건 중 192건)</a:t>
            </a:r>
            <a:endParaRPr lang="ko-KR" alt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3246120"/>
            <a:ext cx="3108960" cy="1463040"/>
          </a:xfrm>
          <a:prstGeom prst="roundRect">
            <a:avLst>
              <a:gd name="adj" fmla="val 5000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3410712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36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ko-KR" altLang="en-US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1605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높은 신뢰도(0.88) 174건의 ±20% 적중률</a:t>
            </a:r>
            <a:endParaRPr lang="ko-KR" altLang="en-US" sz="1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931920" y="1600200"/>
          <a:ext cx="7708392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914400"/>
                <a:gridCol w="914400"/>
                <a:gridCol w="731520"/>
                <a:gridCol w="731520"/>
                <a:gridCol w="2267712"/>
              </a:tblGrid>
              <a:tr h="384048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물건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실거래가*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추정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차이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신뢰도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근거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강서 화곡동 57.31㎡ 1층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2.07억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2.07억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−0.1%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0.88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같은 건물 거래, 보정 +9%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강서 화곡동 23.59㎡ 4층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2.01억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2.01억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+0.1%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0.83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같은 건물 거래 3건, 보정 −6%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관악 신림동 59.93㎡ 4층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3.60억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3.60억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0.83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같은 건물 거래 없이 동네 비율만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관악 봉천동 45.13㎡ 2층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3.01억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3.01억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−0.1%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0.88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같은 건물 거래, 보정 −3%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강남 청담동 90.12㎡ 1층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19.11억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19.18억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+0.4%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0.58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기본 추정 15.6억, 보정 +23%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강남 개포동 54.55㎡ 3층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6.74억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6.78억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+0.6%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0.69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동네 비율, 보정 +4%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 txBox="1"/>
          <p:nvPr/>
        </p:nvSpPr>
        <p:spPr>
          <a:xfrm>
            <a:off x="4069080" y="4572000"/>
            <a:ext cx="7498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건물의 최근 거래나 거래가 많은 동네의 비율이 있으면 기본 추정이 안정적이었습니다</a:t>
            </a:r>
            <a:endParaRPr lang="ko-KR" altLang="en-US" sz="1300" dirty="0"/>
          </a:p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청담동 19억 원대 주택은 기본 추정(15.6억)이 낮았지만, 머신러닝 보정이 23% 올려 0.4% 차이로 맞혔습니다</a:t>
            </a:r>
            <a:endParaRPr lang="ko-KR" altLang="en-US" sz="1300" dirty="0"/>
          </a:p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잘 맞은 물건이라도 강남·노후 조건이면 신뢰도를 낮게 표시합니다. 신뢰도는 결과가 아니라 조건으로 정해집니다</a:t>
            </a:r>
            <a:endParaRPr lang="ko-KR" alt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6355080"/>
            <a:ext cx="101800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000" dirty="0">
                <a:solidFill>
                  <a:srgbClr val="8A898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* 기준일 환산 실거래가 · 0%대 오차는 우연도 작용하므로 전체 성적은 13장 표가 기준입니다 · 출처: outputs/calibration_holdout_preds.csv(과거 거래가 있는 건물, 면적 입력)</a:t>
            </a:r>
            <a:endParaRPr lang="ko-KR" alt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eaLnBrk="0" algn="r"/>
            <a:fld id="{F7021451-1387-4CA6-816F-3879F97B5CBC}" type="slidenum">
              <a:rPr b="0" lang="ko-KR" altLang="en-US"/>
              <a:t>15</a:t>
            </a:fld>
            <a:endParaRPr lang="ko-KR" alt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eaLnBrk="0" indent="0" marL="0">
              <a:buNone/>
            </a:pPr>
            <a:r>
              <a:rPr lang="ko-KR" altLang="en-US" sz="11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AVM  /  5  자체 검증</a:t>
            </a:r>
            <a:endParaRPr lang="ko-KR" alt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크게 빗나간 경우는 대부분 </a:t>
            </a:r>
            <a:pPr eaLnBrk="0" algn="l" indent="0" marL="0">
              <a:buNone/>
            </a:pPr>
            <a:r>
              <a:rPr lang="ko-KR" altLang="en-US" sz="26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시세와 다른 가격에 거래된 집</a:t>
            </a:r>
            <a:pPr eaLnBrk="0" algn="l" indent="0" marL="0">
              <a:buNone/>
            </a:pPr>
            <a:r>
              <a:rPr lang="ko-KR" altLang="en-US" sz="2600" b="1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이었습니다</a:t>
            </a:r>
            <a:endParaRPr lang="ko-KR" alt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5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가족 간 거래나 급매처럼 사정이 있는 거래는 주소만으로 알 수 없어 모델의 한계로 정리했습니다</a:t>
            </a:r>
            <a:endParaRPr lang="ko-KR" alt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3108960" cy="1463040"/>
          </a:xfrm>
          <a:prstGeom prst="roundRect">
            <a:avLst>
              <a:gd name="adj" fmla="val 5000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764792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36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78%</a:t>
            </a:r>
            <a:endParaRPr lang="ko-KR" altLang="en-US" sz="3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5146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±20%를 벗어난 126건 중 공시가격 대비 유난히 싸거나 비싸게 거래된 비율</a:t>
            </a:r>
            <a:endParaRPr lang="ko-KR" alt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3246120"/>
            <a:ext cx="3108960" cy="1463040"/>
          </a:xfrm>
          <a:prstGeom prst="roundRect">
            <a:avLst>
              <a:gd name="adj" fmla="val 5000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3410712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36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/ 15</a:t>
            </a:r>
            <a:endParaRPr lang="ko-KR" altLang="en-US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1605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오차가 가장 큰 15건 중 직거래</a:t>
            </a:r>
            <a:endParaRPr lang="ko-KR" altLang="en-US" sz="1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931920" y="1600200"/>
          <a:ext cx="770839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051560"/>
                <a:gridCol w="914400"/>
                <a:gridCol w="777240"/>
                <a:gridCol w="2587752"/>
              </a:tblGrid>
              <a:tr h="41148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물건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실거래가*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추정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차이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추정 원인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강남 대치동 24.67㎡ 5층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1.80억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3.87억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+115%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공시가격과 거의 같은 값에 거래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강남 청담동 37.2㎡ 2층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3.89억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7.41억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+91%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직거래, 공시가격보다 싸게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관악 봉천동 60.09㎡ 3층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2.10억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3.82억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+82%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직거래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관악 봉천동 68.67㎡ 1층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1.84억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3.32억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+80%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직거래, 34년 된 건물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강서 화곡동 30.00㎡ 7층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1.24억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2.19억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+76%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직거래, 공시가격보다 싸게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 txBox="1"/>
          <p:nvPr/>
        </p:nvSpPr>
        <p:spPr>
          <a:xfrm>
            <a:off x="4069080" y="4343400"/>
            <a:ext cx="74980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직거래(검증 대상의 10%)는 보통 오차가 22%입니다. 거래 당사자 간 사정이 가격에 반영된 것으로 보입니다</a:t>
            </a:r>
            <a:endParaRPr lang="ko-KR" altLang="en-US" sz="1300" dirty="0"/>
          </a:p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지하층·노후 건물은 미리 알 수 있어 신뢰도를 낮춰 표시합니다</a:t>
            </a:r>
            <a:endParaRPr lang="ko-KR" altLang="en-US" sz="1300" dirty="0"/>
          </a:p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비싼 집은 조금 낮게, 싼 집은 조금 높게 추정하는 경향이 있습니다(강남이 보통 5% 낮게 나오는 이유)</a:t>
            </a:r>
            <a:endParaRPr lang="ko-KR" alt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6355080"/>
            <a:ext cx="101800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000" dirty="0">
                <a:solidFill>
                  <a:srgbClr val="8A898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* 실거래가는 시점 지수로 기준일(2026-10-06) 가격으로 환산한 값(신고 금액과 조금 다름) · 출처: docs/의사결정/1007_13_오차_분석.md, outputs/error_top_cases.csv</a:t>
            </a:r>
            <a:endParaRPr lang="ko-KR" alt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eaLnBrk="0" algn="r"/>
            <a:fld id="{F7021451-1387-4CA6-816F-3879F97B5CBC}" type="slidenum">
              <a:rPr b="0" lang="ko-KR" altLang="en-US"/>
              <a:t>16</a:t>
            </a:fld>
            <a:endParaRPr lang="ko-KR" alt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eaLnBrk="0" indent="0" marL="0">
              <a:buNone/>
            </a:pPr>
            <a:r>
              <a:rPr lang="ko-KR" altLang="en-US" sz="11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AVM  /  6  예시 산출</a:t>
            </a:r>
            <a:endParaRPr lang="ko-KR" alt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권역별 예시 3건: 호 입력, </a:t>
            </a:r>
            <a:pPr eaLnBrk="0" algn="l" indent="0" marL="0">
              <a:buNone/>
            </a:pPr>
            <a:r>
              <a:rPr lang="ko-KR" altLang="en-US" sz="26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면적 빈칸, 지하층</a:t>
            </a:r>
            <a:endParaRPr lang="ko-KR" alt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5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강서구 화곡동·관악구·강남구에서 1건씩, 입력 조건을 다르게 골라 실제 출력을 옮겼습니다</a:t>
            </a:r>
            <a:endParaRPr lang="ko-KR" alt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3545738" cy="4526280"/>
          </a:xfrm>
          <a:prstGeom prst="roundRect">
            <a:avLst>
              <a:gd name="adj" fmla="val 206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783080"/>
            <a:ext cx="30885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6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강서 화곡동 354-41</a:t>
            </a:r>
            <a:endParaRPr lang="ko-KR" alt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148840"/>
            <a:ext cx="30885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3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2층 203호 · 34.01㎡</a:t>
            </a:r>
            <a:endParaRPr lang="ko-KR" alt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514600"/>
            <a:ext cx="308853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3400" b="1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2.41억</a:t>
            </a:r>
            <a:endParaRPr lang="ko-KR" alt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200400"/>
            <a:ext cx="30885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80% 범위 1.99 ~ 2.84억</a:t>
            </a:r>
            <a:endParaRPr lang="ko-KR" alt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520440"/>
            <a:ext cx="30885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3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신뢰도 0.83</a:t>
            </a:r>
            <a:endParaRPr lang="ko-KR" alt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3977640"/>
            <a:ext cx="30885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100" dirty="0">
                <a:solidFill>
                  <a:srgbClr val="8A898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</a:t>
            </a:r>
            <a:endParaRPr lang="ko-KR" alt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4251960"/>
            <a:ext cx="308853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공시가격 1.34억 × 실거래 배율 1.78(같은 건물 거래 2건 + 동네) = 2.38억, 건물 특징 보정 +1%</a:t>
            </a:r>
            <a:endParaRPr lang="ko-KR" alt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5440680"/>
            <a:ext cx="3088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1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참고: 이 집의 최근 실거래를 빼고 계산했을 때 오차 −13.4%</a:t>
            </a:r>
            <a:endParaRPr lang="ko-KR" alt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322978" y="1600200"/>
            <a:ext cx="3545738" cy="4526280"/>
          </a:xfrm>
          <a:prstGeom prst="roundRect">
            <a:avLst>
              <a:gd name="adj" fmla="val 206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51578" y="1783080"/>
            <a:ext cx="30885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6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관악 봉천동 898-9</a:t>
            </a:r>
            <a:endParaRPr lang="ko-KR" alt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551578" y="2148840"/>
            <a:ext cx="30885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3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3층 · 면적 빈칸</a:t>
            </a:r>
            <a:endParaRPr lang="ko-KR" alt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551578" y="2514600"/>
            <a:ext cx="308853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3400" b="1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2.45억</a:t>
            </a:r>
            <a:endParaRPr lang="ko-KR" altLang="en-US" sz="3400" dirty="0"/>
          </a:p>
        </p:txBody>
      </p:sp>
      <p:sp>
        <p:nvSpPr>
          <p:cNvPr id="18" name="Text 16"/>
          <p:cNvSpPr txBox="1"/>
          <p:nvPr/>
        </p:nvSpPr>
        <p:spPr>
          <a:xfrm>
            <a:off x="4551578" y="3200400"/>
            <a:ext cx="30885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80% 범위 2.04 ~ 2.95억</a:t>
            </a:r>
            <a:endParaRPr lang="ko-KR" alt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551578" y="3520440"/>
            <a:ext cx="30885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3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신뢰도 0.83</a:t>
            </a:r>
            <a:endParaRPr lang="ko-KR" alt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551578" y="3977640"/>
            <a:ext cx="30885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100" dirty="0">
                <a:solidFill>
                  <a:srgbClr val="8A898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</a:t>
            </a:r>
            <a:endParaRPr lang="ko-KR" alt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4551578" y="4251960"/>
            <a:ext cx="308853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공시가격 1.28억 × 배율 1.88 = 2.40억, 보정 +2%. 빈 면적은 공시가격 자료(39.76㎡)로 채움</a:t>
            </a:r>
            <a:endParaRPr lang="ko-KR" alt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551578" y="5440680"/>
            <a:ext cx="3088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1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참고: 이 집의 최근 실거래를 빼고 계산했을 때 오차 +6.3%</a:t>
            </a:r>
            <a:endParaRPr lang="ko-KR" alt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097317" y="1600200"/>
            <a:ext cx="3545738" cy="4526280"/>
          </a:xfrm>
          <a:prstGeom prst="roundRect">
            <a:avLst>
              <a:gd name="adj" fmla="val 206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325917" y="1783080"/>
            <a:ext cx="30885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6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 일원동 661-1</a:t>
            </a:r>
            <a:endParaRPr lang="ko-KR" alt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8325917" y="2148840"/>
            <a:ext cx="30885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3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지하 1층 · 49.08㎡</a:t>
            </a:r>
            <a:endParaRPr lang="ko-KR" alt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8325917" y="2514600"/>
            <a:ext cx="308853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3400" b="1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5.45억</a:t>
            </a:r>
            <a:endParaRPr lang="ko-KR" altLang="en-US" sz="3400" dirty="0"/>
          </a:p>
        </p:txBody>
      </p:sp>
      <p:sp>
        <p:nvSpPr>
          <p:cNvPr id="27" name="Text 25"/>
          <p:cNvSpPr txBox="1"/>
          <p:nvPr/>
        </p:nvSpPr>
        <p:spPr>
          <a:xfrm>
            <a:off x="8325917" y="3200400"/>
            <a:ext cx="30885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80% 범위 4.00 ~ 7.95억</a:t>
            </a:r>
            <a:endParaRPr lang="ko-KR" alt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8325917" y="3520440"/>
            <a:ext cx="30885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3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신뢰도 0.58</a:t>
            </a:r>
            <a:endParaRPr lang="ko-KR" alt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8325917" y="3977640"/>
            <a:ext cx="30885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100" dirty="0">
                <a:solidFill>
                  <a:srgbClr val="8A898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</a:t>
            </a:r>
            <a:endParaRPr lang="ko-KR" alt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8325917" y="4251960"/>
            <a:ext cx="308853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공시가격 2.05억 × 배율 2.42 = 4.96억, 보정 +10%. 지하·강남이라 신뢰도가 낮고 범위가 넓음</a:t>
            </a:r>
            <a:endParaRPr lang="ko-KR" alt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8325917" y="5440680"/>
            <a:ext cx="3088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1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참고: 이 집의 최근 실거래를 빼고 계산했을 때 오차 −13.7%</a:t>
            </a:r>
            <a:endParaRPr lang="ko-KR" alt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6355080"/>
            <a:ext cx="101800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000" dirty="0">
                <a:solidFill>
                  <a:srgbClr val="8A898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출력의 근거 문장은 더 자세합니다(outputs/example_output.csv). 특정 물건의 답을 저장해 두는 방식은 쓰지 않았습니다</a:t>
            </a:r>
            <a:endParaRPr lang="ko-KR" alt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eaLnBrk="0" algn="r"/>
            <a:fld id="{F7021451-1387-4CA6-816F-3879F97B5CBC}" type="slidenum">
              <a:rPr b="0" lang="ko-KR" altLang="en-US"/>
              <a:t>17</a:t>
            </a:fld>
            <a:endParaRPr lang="ko-KR" alt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eaLnBrk="0" indent="0" marL="0">
              <a:buNone/>
            </a:pPr>
            <a:r>
              <a:rPr lang="ko-KR" altLang="en-US" sz="11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AVM  /  6  예시 산출</a:t>
            </a:r>
            <a:endParaRPr lang="ko-KR" alt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과제 명령 한 줄로 실행하며, </a:t>
            </a:r>
            <a:pPr eaLnBrk="0" algn="l" indent="0" marL="0">
              <a:buNone/>
            </a:pPr>
            <a:r>
              <a:rPr lang="ko-KR" altLang="en-US" sz="26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잘못된 입력은 사유를 남기고 넘어갑니다</a:t>
            </a:r>
            <a:endParaRPr lang="ko-KR" alt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5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앞 장의 3건에 행정동 입력 1건과 잘못된 입력 6건을 섞어 실제로 실행한 화면입니다</a:t>
            </a:r>
            <a:endParaRPr lang="ko-KR" altLang="en-US" sz="1500" dirty="0"/>
          </a:p>
        </p:txBody>
      </p:sp>
      <p:pic>
        <p:nvPicPr>
          <p:cNvPr id="5" name="Image 0" descr="C:\DA_WorkSpace\DA_Seoul_Villa_AVM\presentation\run_erro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949440" cy="4269664"/>
          </a:xfrm>
          <a:prstGeom prst="rect">
            <a:avLst/>
          </a:prstGeom>
        </p:spPr>
      </p:pic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0" y="1600200"/>
          <a:ext cx="387065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58975"/>
              </a:tblGrid>
              <a:tr h="36576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실패 사유(basis)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입력 예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권역 밖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다른 구(마포구), 강서구의 화곡동 외 동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주소 해석 불가: 동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없는 동 이름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주소 해석 불가: 지번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숫자가 아닌 지번(abc)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주소 해석 불가: 필지 없음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존재하지 않는 지번(9999-99)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 해석 불가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'옥탑'처럼 숫자가 아닌 층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7772400" y="4069080"/>
            <a:ext cx="387065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1～3번은 앞 장 예시와 같은 결과이고, 4번은 행정동 이름(낙성대동)을 법정동으로 바꿔 처리했습니다</a:t>
            </a:r>
            <a:endParaRPr lang="ko-KR" altLang="en-US" sz="1200" dirty="0"/>
          </a:p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실패 행도 출력 파일에 입력과 같은 순서로 남아 입력과 1:1로 대응합니다</a:t>
            </a:r>
            <a:endParaRPr lang="ko-KR" altLang="en-US" sz="1200" dirty="0"/>
          </a:p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값을 임의로 만들거나 실행이 멈추지 않습니다</a:t>
            </a:r>
            <a:endParaRPr lang="ko-KR" alt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6355080"/>
            <a:ext cx="101800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000" dirty="0">
                <a:solidFill>
                  <a:srgbClr val="8A898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Windows Terminal 실행 화면(2026-10-08) · 입력 tests/demo_errors_input.csv · 근거(basis) 전문은 outputs/example_output.csv</a:t>
            </a:r>
            <a:endParaRPr lang="ko-KR" alt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eaLnBrk="0" algn="r"/>
            <a:fld id="{F7021451-1387-4CA6-816F-3879F97B5CBC}" type="slidenum">
              <a:rPr b="0" lang="ko-KR" altLang="en-US"/>
              <a:t>18</a:t>
            </a:fld>
            <a:endParaRPr lang="ko-KR" alt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eaLnBrk="0" indent="0" marL="0">
              <a:buNone/>
            </a:pPr>
            <a:r>
              <a:rPr lang="ko-KR" altLang="en-US" sz="11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AVM  /  7  AI 활용</a:t>
            </a:r>
            <a:endParaRPr lang="ko-KR" alt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코드는 AI와 함께 작성했고, </a:t>
            </a:r>
            <a:pPr eaLnBrk="0" algn="l" indent="0" marL="0">
              <a:buNone/>
            </a:pPr>
            <a:r>
              <a:rPr lang="ko-KR" altLang="en-US" sz="26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방향과 검증은 제가 판단</a:t>
            </a:r>
            <a:pPr eaLnBrk="0" algn="l" indent="0" marL="0">
              <a:buNone/>
            </a:pPr>
            <a:r>
              <a:rPr lang="ko-KR" altLang="en-US" sz="2600" b="1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했습니다</a:t>
            </a:r>
            <a:endParaRPr lang="ko-KR" alt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5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사용한 AI 도구는 Claude Code이며, 단계마다 역할을 나눠 활용했습니다</a:t>
            </a:r>
            <a:endParaRPr lang="ko-KR" alt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3749040" cy="3931920"/>
          </a:xfrm>
          <a:prstGeom prst="roundRect">
            <a:avLst>
              <a:gd name="adj" fmla="val 1951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7373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6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작업 규칙을 문서로 관리</a:t>
            </a:r>
            <a:endParaRPr lang="ko-KR" alt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240280"/>
            <a:ext cx="32918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수치는 실제 실행 결과만 사용, 데이터 결합 때마다 건수 대조, 상용 시세 사용 금지</a:t>
            </a:r>
            <a:endParaRPr lang="ko-KR" altLang="en-US" sz="1300" dirty="0"/>
          </a:p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결정마다 선택지와 근거를 기록(24건)</a:t>
            </a:r>
            <a:endParaRPr lang="ko-KR" altLang="en-US" sz="1300" dirty="0"/>
          </a:p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작업 이력을 매일 기록해 다음 날 이어서 진행</a:t>
            </a:r>
            <a:endParaRPr lang="ko-KR" altLang="en-US" sz="1300" dirty="0"/>
          </a:p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결과는 직접 확인한 뒤 반영(PR 20건)</a:t>
            </a:r>
            <a:endParaRPr lang="ko-KR" altLang="en-US" sz="13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0" y="1600200"/>
          <a:ext cx="706831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3108960"/>
                <a:gridCol w="3090672"/>
              </a:tblGrid>
              <a:tr h="54864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단계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AI가 한 일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제가 판단·결정한 것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설계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과제 요약, 감정평가 방식을 모델에 연결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마감·기준일 해석, 같은 호의 과거 거래 활용 방식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수집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정부 API 응답 확인, 수집 코드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수집 범위 결정, 약관 문제 데이터 교체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다듬기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중복·표기·이상한 거래를 걸러 내는 규칙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제외 기준(낮은 이상치만 제외)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모델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검증 설계, 13가지 방법 비교, 신뢰도 계산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여러 모델 비교 요구, 최종 모델·학습 3년 결정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점검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데이터 전수 점검, 문서와 코드 대조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단계별 재검증 요청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문서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결정 기록·그림·발표 자료 초안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공개 범위 결정, 최종 검토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eaLnBrk="0" algn="r"/>
            <a:fld id="{F7021451-1387-4CA6-816F-3879F97B5CBC}" type="slidenum">
              <a:rPr b="0" lang="ko-KR" altLang="en-US"/>
              <a:t>19</a:t>
            </a:fld>
            <a:endParaRPr lang="ko-KR" alt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eaLnBrk="0" indent="0" marL="0">
              <a:buNone/>
            </a:pPr>
            <a:r>
              <a:rPr lang="ko-KR" altLang="en-US" sz="11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AVM  /  7  AI 활용</a:t>
            </a:r>
            <a:endParaRPr lang="ko-KR" alt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AI의 오류는 </a:t>
            </a:r>
            <a:pPr eaLnBrk="0" algn="l" indent="0" marL="0">
              <a:buNone/>
            </a:pPr>
            <a:r>
              <a:rPr lang="ko-KR" altLang="en-US" sz="26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결과를 직접 확인하는 단계</a:t>
            </a:r>
            <a:pPr eaLnBrk="0" algn="l" indent="0" marL="0">
              <a:buNone/>
            </a:pPr>
            <a:r>
              <a:rPr lang="ko-KR" altLang="en-US" sz="2600" b="1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에서 찾았습니다</a:t>
            </a:r>
            <a:endParaRPr lang="ko-KR" alt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5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AI의 결과를 그대로 쓰지 않고, 실행 결과·원본 데이터·과제 원문과 대조하는 단계를 따로 두었습니다</a:t>
            </a:r>
            <a:endParaRPr lang="ko-KR" altLang="en-US" sz="15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758952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3977640"/>
                <a:gridCol w="2011680"/>
              </a:tblGrid>
              <a:tr h="402336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확인 방법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AI의 오류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조치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과제 원문·약관 확인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지하철역 위치를 저장 금지 서비스(Kakao)에서 받아 저장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정부 공공데이터로 교체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과제 원문·약관 확인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'모은 데이터에 없는 집은 그 자리에서 조회' 요구를 놓침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실행 중 조회 기능 추가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숫자 범위 점검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정상 거래의 26%를 이상한 거래로 잘못 표시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기준을 고쳐 0.4%로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숫자 범위 점검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건물 사용승인일을 잘못 읽어 연식이 2006년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코드 수정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직접 실행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호수를 비교하는 버그로 20건 중 18건 오류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코드와 검사 방법 수정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하나씩 열어 보기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정상 거래 133건까지 '묶음 거래'로 잘못 분류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확인 후 12건만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숫자 대조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데이터를 보기 전에 쓴 그림 제목 6개가 실제와 다름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결과 표와 맞춰 수정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직접 질문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근거 없이 '3년 치만 수집'을 제안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6년 수집 후 검증으로 3년 결정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과제 명령으로 실행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엑셀로 저장한 입력 파일(CP949)을 못 읽어 전체가 멈춤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두 인코딩 모두 읽기,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시험 파일 추가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직접 질문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상용 시세 비교값을 약관 확인 없이 공개 저장소에 넣음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약관 확인 후 요약만 공개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412480" y="1600200"/>
            <a:ext cx="3227832" cy="1417320"/>
          </a:xfrm>
          <a:prstGeom prst="roundRect">
            <a:avLst>
              <a:gd name="adj" fmla="val 5161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641080" y="16916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5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배운 점</a:t>
            </a:r>
            <a:endParaRPr lang="ko-KR" alt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641080" y="2057400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 단계를 따로 둘 때만 오류가 드러났습니다. 그래서 단계마다 점검을 요청했습니다</a:t>
            </a:r>
            <a:endParaRPr lang="ko-KR" alt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8412480" y="3200400"/>
            <a:ext cx="3227832" cy="2880360"/>
          </a:xfrm>
          <a:prstGeom prst="roundRect">
            <a:avLst>
              <a:gd name="adj" fmla="val 2540"/>
            </a:avLst>
          </a:prstGeom>
          <a:solidFill>
            <a:srgbClr val="FBEDE7"/>
          </a:solidFill>
          <a:ln w="12700">
            <a:solidFill>
              <a:srgbClr val="FBEDE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641080" y="32918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5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없이 했다면</a:t>
            </a:r>
            <a:endParaRPr lang="ko-KR" alt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641080" y="361188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2200" b="1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2.5～3.5개월</a:t>
            </a:r>
            <a:endParaRPr lang="ko-KR" alt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8641080" y="4087368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1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파이썬 5개월 차 기준 · 같은 범위 · 실제 소요 3일</a:t>
            </a:r>
            <a:endParaRPr lang="ko-KR" alt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641080" y="4480560"/>
            <a:ext cx="28346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공공 API·데이터 처리·검증 방법을 익히는 시간이 대부분</a:t>
            </a:r>
            <a:endParaRPr lang="ko-KR" altLang="en-US" sz="1200" dirty="0"/>
          </a:p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범위를 줄여도(방법 1개, 단순 신뢰도) 5～6주</a:t>
            </a:r>
            <a:endParaRPr lang="ko-KR" altLang="en-US" sz="1200" dirty="0"/>
          </a:p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AI는 구현 시간을 줄였고, 선택과 검증은 직접 했습니다</a:t>
            </a:r>
            <a:endParaRPr lang="ko-KR" alt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eaLnBrk="0" algn="r"/>
            <a:fld id="{F7021451-1387-4CA6-816F-3879F97B5CBC}" type="slidenum">
              <a:rPr b="0" lang="ko-KR" altLang="en-US"/>
              <a:t>20</a:t>
            </a:fld>
            <a:endParaRPr lang="ko-KR" alt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eaLnBrk="0" indent="0" marL="0">
              <a:buNone/>
            </a:pPr>
            <a:r>
              <a:rPr lang="ko-KR" altLang="en-US" sz="11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AVM  /  8  한계와 개선안</a:t>
            </a:r>
            <a:endParaRPr lang="ko-KR" alt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남은 과제는 </a:t>
            </a:r>
            <a:pPr eaLnBrk="0" algn="l" indent="0" marL="0">
              <a:buNone/>
            </a:pPr>
            <a:r>
              <a:rPr lang="ko-KR" altLang="en-US" sz="26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사정이 있는 거래</a:t>
            </a:r>
            <a:pPr eaLnBrk="0" algn="l" indent="0" marL="0">
              <a:buNone/>
            </a:pPr>
            <a:r>
              <a:rPr lang="ko-KR" altLang="en-US" sz="2600" b="1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와 호 단위 정보입니다</a:t>
            </a:r>
            <a:endParaRPr lang="ko-KR" alt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5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더 개선하기 위해서는 데이터 자동 갱신과 성능의 지속적인 재검증이 필요합니다</a:t>
            </a:r>
            <a:endParaRPr lang="ko-KR" alt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410048" cy="3657600"/>
          </a:xfrm>
          <a:prstGeom prst="roundRect">
            <a:avLst>
              <a:gd name="adj" fmla="val 2000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7373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8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한계</a:t>
            </a:r>
            <a:endParaRPr lang="ko-KR" alt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240280"/>
            <a:ext cx="486140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가족 간 거래·급매는 구별하지 못하고 신뢰도에도 반영하지 못함</a:t>
            </a:r>
            <a:endParaRPr lang="ko-KR" altLang="en-US" sz="1300" dirty="0"/>
          </a:p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비싼 집은 조금 낮게, 싼 집은 조금 높게 추정하는 경향</a:t>
            </a:r>
            <a:endParaRPr lang="ko-KR" altLang="en-US" sz="1300" dirty="0"/>
          </a:p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 안에서는 위험 물건을 신뢰도로 충분히 구분하지 못함</a:t>
            </a:r>
            <a:endParaRPr lang="ko-KR" altLang="en-US" sz="1300" dirty="0"/>
          </a:p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실거래 자료에 호 정보가 없어, 호까지 넣은 입력의 정확도는 검증하지 못함</a:t>
            </a:r>
            <a:endParaRPr lang="ko-KR" altLang="en-US" sz="1300" dirty="0"/>
          </a:p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공시가격이 없는 집은 정확도가 낮아 신뢰도를 0.10으로 표시</a:t>
            </a:r>
            <a:endParaRPr lang="ko-KR" altLang="en-US" sz="1300" dirty="0"/>
          </a:p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갱신하지 않으면 1년 뒤 3～5% 낮게 추정</a:t>
            </a:r>
            <a:endParaRPr lang="ko-KR" altLang="en-US" sz="1300" dirty="0"/>
          </a:p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시세 흐름은 3개월 평균이라 반응이 늦고, 신고가 덜 들어온 최근 2개월(9·10월)은 반영하지 못함</a:t>
            </a:r>
            <a:endParaRPr lang="ko-KR" alt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33008" y="1600200"/>
            <a:ext cx="5410048" cy="3657600"/>
          </a:xfrm>
          <a:prstGeom prst="roundRect">
            <a:avLst>
              <a:gd name="adj" fmla="val 2000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07328" y="17373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8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개선안</a:t>
            </a:r>
            <a:endParaRPr lang="ko-KR" alt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507328" y="2240280"/>
            <a:ext cx="486140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실거래가는 매월, 공시가격은 매년 자동 수집</a:t>
            </a:r>
            <a:endParaRPr lang="ko-KR" altLang="en-US" sz="1300" dirty="0"/>
          </a:p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 거래로 매월 성능을 재측정하고, 기준 미달 시 재학습</a:t>
            </a:r>
            <a:endParaRPr lang="ko-KR" altLang="en-US" sz="1300" dirty="0"/>
          </a:p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사정이 있는 거래를 걸러 낼 추가 자료(등기부 등)</a:t>
            </a:r>
            <a:endParaRPr lang="ko-KR" altLang="en-US" sz="1300" dirty="0"/>
          </a:p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호 단위 정보(방향·조망·내부 상태), 학교·공원·상권 거리</a:t>
            </a:r>
            <a:endParaRPr lang="ko-KR" altLang="en-US" sz="1300" dirty="0"/>
          </a:p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주변 유사 거래를 근거로 함께 제시</a:t>
            </a:r>
            <a:endParaRPr lang="ko-KR" altLang="en-US" sz="1300" dirty="0"/>
          </a:p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모델을 미리 학습해 두고 요청마다 즉시 응답</a:t>
            </a:r>
            <a:endParaRPr lang="ko-KR" alt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eaLnBrk="0" algn="r"/>
            <a:fld id="{F7021451-1387-4CA6-816F-3879F97B5CBC}" type="slidenum">
              <a:rPr b="0" lang="ko-KR" altLang="en-US"/>
              <a:t>21</a:t>
            </a:fld>
            <a:endParaRPr lang="ko-KR" alt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8229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8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정리</a:t>
            </a:r>
            <a:endParaRPr lang="ko-KR" alt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56616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9%</a:t>
            </a:r>
            <a:endParaRPr lang="ko-KR" alt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3891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300" dirty="0">
                <a:solidFill>
                  <a:srgbClr val="C9D3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가격과의 보통 차이</a:t>
            </a:r>
            <a:endParaRPr lang="ko-KR" alt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3474720" y="356616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79%</a:t>
            </a:r>
            <a:endParaRPr lang="ko-KR" alt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3474720" y="43891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300" dirty="0">
                <a:solidFill>
                  <a:srgbClr val="C9D3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가격 ±20% 안(10건 중 8건)</a:t>
            </a:r>
            <a:endParaRPr lang="ko-KR" alt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217920" y="356616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44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ko-KR" alt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6217920" y="43891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300" dirty="0">
                <a:solidFill>
                  <a:srgbClr val="C9D3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신뢰도 0.8 초과 물건의 ±20% 적중률</a:t>
            </a:r>
            <a:endParaRPr lang="ko-KR" alt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961120" y="356616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0건</a:t>
            </a:r>
            <a:endParaRPr lang="ko-KR" alt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8961120" y="43891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300" dirty="0">
                <a:solidFill>
                  <a:srgbClr val="C9D3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표본 20건 실행 실패</a:t>
            </a:r>
            <a:endParaRPr lang="ko-KR" alt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1371600"/>
            <a:ext cx="105156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공시가격에서 출발해 단순하고 설명하기 쉬운 추정을 만들었습니다(가격 차이의 87% 설명)</a:t>
            </a:r>
            <a:endParaRPr lang="ko-KR" altLang="en-US" sz="1800" dirty="0"/>
          </a:p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공시가격이 덜 반영한 노후도·층·위치 차이를 머신러닝으로 보정해 오차를 줄였습니다(11% → 9%)</a:t>
            </a:r>
            <a:endParaRPr lang="ko-KR" altLang="en-US" sz="1800" dirty="0"/>
          </a:p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과거 오차로 신뢰도를 계산해, 표시한 신뢰도와 실제 적중률이 거의 같습니다</a:t>
            </a:r>
            <a:endParaRPr lang="ko-KR" altLang="en-US" sz="1800" dirty="0"/>
          </a:p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권역 밖이거나 해석할 수 없는 주소도 멈추지 않고, 해당 행에 실패 사유를 남깁니다</a:t>
            </a:r>
            <a:endParaRPr lang="ko-KR" alt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57607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400" dirty="0">
                <a:solidFill>
                  <a:srgbClr val="C9D3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코드·데이터·의사결정 기록: github.com/KimInSeok-DA/DA_Seoul_Villa_AVM  |  다음 장부터 부록(기술 상세)</a:t>
            </a:r>
            <a:endParaRPr lang="ko-KR" alt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8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부록</a:t>
            </a:r>
            <a:endParaRPr lang="ko-KR" alt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8346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기술 상세</a:t>
            </a:r>
            <a:endParaRPr lang="ko-KR" alt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490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600" dirty="0">
                <a:solidFill>
                  <a:srgbClr val="C9D3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용어 풀이 · 기술 스택과 데이터 상세 · 검증 상세표 · 모델 비교 방법 · 신뢰도 계산 방법 · 시점 지수 검증 · 하우스머치 참고 비교</a:t>
            </a:r>
            <a:endParaRPr lang="ko-KR" alt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eaLnBrk="0" indent="0" marL="0">
              <a:buNone/>
            </a:pPr>
            <a:r>
              <a:rPr lang="ko-KR" altLang="en-US" sz="11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AVM  /  부록 A</a:t>
            </a:r>
            <a:endParaRPr lang="ko-KR" alt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용어 풀이</a:t>
            </a:r>
            <a:endParaRPr lang="ko-KR" altLang="en-US" sz="26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716975"/>
              </a:tblGrid>
              <a:tr h="374904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용어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뜻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B1(기본 추정)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공시가격 × 실거래/공시 비율. 비율은 같은 건물 → 법정동 → 구 순서로 가져오고, 거래가 적으면 동네 값 쪽으로 조정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시점 지수(시점 보정)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구별·월별 실거래/공시 비율의 중앙값(3개월 이동평균). 과거 거래가를 기준일 가격으로 환산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XGBoost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결정 나무를 여러 개 이어 붙여 앞 나무의 오차를 다음 나무가 줄이는 머신러닝 방법(그래디언트 부스팅)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직접 / 잔차 / 평균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직접: 건물 특징으로 log ㎡당 가격 예측 / 잔차: log(실거래 ÷ B1) 예측해 B1을 보정 / 평균: 두 추정의 기하평균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PNU(지번)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법정동코드 10자리 + 산 여부 1자리 + 본번 4자리 + 부번 4자리. 데이터를 합치는 열쇠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홀드아웃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학습에 쓰지 않고 검증용으로 떼어 둔 표본(건물 632개)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GroupKFold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교차검증을 건물(그룹) 단위로 나눠 같은 건물이 학습·검증에 섞이지 않게 함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그리드서치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하이퍼파라미터(나무 깊이·개수 등) 조합을 모두 시험해 교차검증 성적이 가장 좋은 것을 고름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부트스트랩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표본을 복원 추출로 2,000번 다시 뽑아 성적 차이의 95% 구간을 구함. 0을 포함하지 않으면 우연이 아니라고 판단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MAPE / 중앙값 오차율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|추정 − 실제| ÷ 실제의 평균 / 중앙값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수정 Z-점수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중앙값과 MAD로 계산한 이상치 점수. |z| &gt; 3.5를 이상치로 봄(Iglewicz &amp; Hoaglin 1993)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결정계수 / VIF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결정계수: 변수가 설명하는 분산 비율 / VIF: 변수끼리 얼마나 겹치는지(다중공선성)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eaLnBrk="0" algn="r"/>
            <a:fld id="{F7021451-1387-4CA6-816F-3879F97B5CBC}" type="slidenum">
              <a:rPr b="0" lang="ko-KR" altLang="en-US"/>
              <a:t>24</a:t>
            </a:fld>
            <a:endParaRPr lang="ko-KR" alt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eaLnBrk="0" indent="0" marL="0">
              <a:buNone/>
            </a:pPr>
            <a:r>
              <a:rPr lang="ko-KR" altLang="en-US" sz="11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AVM  /  부록 B</a:t>
            </a:r>
            <a:endParaRPr lang="ko-KR" alt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기술 스택과 데이터 상세</a:t>
            </a:r>
            <a:endParaRPr lang="ko-KR" altLang="en-US" sz="26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94415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9448495"/>
              </a:tblGrid>
              <a:tr h="329184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사용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언어·환경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Python 3.12+ (개발 3.14.5), uv + requirements.txt, 3.12·3.13·3.14 새 환경에서 같은 출력 확인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라이브러리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pandas 3.0.6, numpy 2.5.3, XGBoost 3.4.1, scikit-learn 1.9.1, requests, python-dotenv, Jupyter, matplotlib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API 키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DATA_GO_KR_API_KEY(실거래·건축물대장), VWORLD_API_KEY(공시가격·연속지적도), SEOUL_OPEN_API_KEY(폐쇄말소대장)·REB_API_KEY(부동산원 지수, 검증용). 환경변수로 받으며 predict.py는 키 없이도 실행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743200"/>
          <a:ext cx="11094415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377440"/>
                <a:gridCol w="2148840"/>
                <a:gridCol w="1463040"/>
                <a:gridCol w="2819095"/>
              </a:tblGrid>
              <a:tr h="301752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데이터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수집 방식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기간·기준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받은 건수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정제 후 · 사용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연립다세대 매매 실거래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API, 구·월별 전수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2020-10~2026-10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36,997건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33,363건 · 학습 최근 3년 14,401건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연립다세대 전월세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API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2020-10~2026-10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143,109건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사용 안 함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공동주택가격(호별)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API, 거래 지번마다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2026(없으면 최근 연도)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9,928개 지번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107,236호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건축물대장 표제부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API, 거래 지번마다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수집일 현행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9,928개 지번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연식·승강기·층수·세대수·주차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필지 좌표·공시지가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API(연속지적도), 3개 구 전체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2025 공시지가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123,615필지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좌표·땅값·역 거리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지하철역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공공데이터 파일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2026-06-30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367개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275개 역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법정동코드·행정동 연계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공공데이터·행정안전부 파일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2026-06-30 · 2026-09-30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30개 법정동 · 63개 행정동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폐쇄말소대장 표제부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API(서울 열린데이터광장), 서울 전체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수집일 기준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383,716건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3개 구 49,074지번 · 철거 전 거래 523건 제외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부동산원 연립/다세대 매매 지수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API(R-ONE)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월간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873행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시점 지수 검증에만(부록 F)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60350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1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유형: 다세대 30,135 · 연립 3,097 · 혼합 표기 131건(정제 후). 정제: 해제 2,188 · 낮은 이상치(수정 Z &lt; −3.5) 331 · 일괄 매매 합계 12 · 재건축 전 580 · 철거된 건물 523 제외</a:t>
            </a:r>
            <a:endParaRPr lang="ko-KR" alt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eaLnBrk="0" algn="r"/>
            <a:fld id="{F7021451-1387-4CA6-816F-3879F97B5CBC}" type="slidenum">
              <a:rPr b="0" lang="ko-KR" altLang="en-US"/>
              <a:t>25</a:t>
            </a:fld>
            <a:endParaRPr lang="ko-KR" alt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eaLnBrk="0" indent="0" marL="0">
              <a:buNone/>
            </a:pPr>
            <a:r>
              <a:rPr lang="ko-KR" altLang="en-US" sz="11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AVM  /  부록 C</a:t>
            </a:r>
            <a:endParaRPr lang="ko-KR" alt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자체 검증 상세(632개 건물, 입력: 호 없음)</a:t>
            </a:r>
            <a:endParaRPr lang="ko-KR" altLang="en-US" sz="26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94415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731520"/>
                <a:gridCol w="1463040"/>
                <a:gridCol w="1463040"/>
                <a:gridCol w="1463040"/>
                <a:gridCol w="1508760"/>
                <a:gridCol w="1538935"/>
              </a:tblGrid>
              <a:tr h="384048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상황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면적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중앙값 오차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MAPE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±10% 적중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±20% 적중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80% 구간 포함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 처음 보는 건물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있음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9.4%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13.7%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52.7%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78.5%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82.9%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 처음 보는 건물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비움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11.0%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16.2%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46.4%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73.3%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80.1%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 같은 건물 과거 거래 있음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있음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8.6%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13.0%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55.7%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80.1%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80.7%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 같은 건물 과거 거래 있음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비움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10.5%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15.6%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48.6%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74.1%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77.2%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기준선 B1 (A / B)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있음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11.1% / 10.7%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15.8% / 14.7%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45.3% / 48.1%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71.7% / 73.9%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69.8% / 67.7%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94760"/>
          <a:ext cx="11094415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4636008"/>
                <a:gridCol w="4629607"/>
              </a:tblGrid>
              <a:tr h="36576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신뢰도 구간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 표본 / 평균 신뢰도 / 실제 ±20% 적중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 표본 / 평균 신뢰도 / 실제 ±20% 적중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0.6 이하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73 / 0.57 / 58.9%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47 / 0.56 / 61.7%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0.6~0.7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120 / 0.67 / 70.8%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94 / 0.66 / 70.2%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0.7~0.8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171 / 0.77 / 77.2%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137 / 0.77 / 77.4%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0.8 초과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268 / 0.84 / 88.1%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354 / 0.86 / 86.2%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576072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1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분할: 최근 12개월 거래가 있는 평가 권역 건물 3,159개 중 20%(시드 42)를 건물 단위로 분리, 건물마다 최근 거래 1건. A는 그 건물 거래를 모두 빼고, B는 대상 거래 이전 거래만 남김. 구간·신뢰도 보정은 나머지 건물 1만 건으로</a:t>
            </a:r>
            <a:endParaRPr lang="ko-KR" alt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eaLnBrk="0" algn="r"/>
            <a:fld id="{F7021451-1387-4CA6-816F-3879F97B5CBC}" type="slidenum">
              <a:rPr b="0" lang="ko-KR" altLang="en-US"/>
              <a:t>26</a:t>
            </a:fld>
            <a:endParaRPr lang="ko-KR" alt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eaLnBrk="0" indent="0" marL="0">
              <a:buNone/>
            </a:pPr>
            <a:r>
              <a:rPr lang="ko-KR" altLang="en-US" sz="11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AVM  /  부록 D</a:t>
            </a:r>
            <a:endParaRPr lang="ko-KR" alt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 비교 방법과 학습 기간</a:t>
            </a:r>
            <a:endParaRPr lang="ko-KR" alt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34440"/>
            <a:ext cx="630936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후보 13개: Ridge · KNN · 랜덤포레스트 · XGBoost × {직접(log ㎡당 가격) / 잔차(log 실거래÷B1) / 둘의 기하평균} + B1</a:t>
            </a:r>
            <a:endParaRPr lang="ko-KR" altLang="en-US" sz="1300" dirty="0"/>
          </a:p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Pipeline(결측 채움·표준화 → 모델) + GridSearchCV, 학습 세트 안에서만 GroupKFold(5, 그룹 = PNU), 기준 MAE(log)</a:t>
            </a:r>
            <a:endParaRPr lang="ko-KR" altLang="en-US" sz="1300" dirty="0"/>
          </a:p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누수 방지: 학습 행의 B1 근거는 그 거래보다 앞선 같은 건물 거래와 자기 건물을 뺀 동네 통계로만 계산</a:t>
            </a:r>
            <a:endParaRPr lang="ko-KR" altLang="en-US" sz="1300" dirty="0"/>
          </a:p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상황 A(처음 보는 건물) · B(같은 건물 앞선 거래 있음) · T(2025-08까지 학습해 그 뒤 1년 맞히기)</a:t>
            </a:r>
            <a:endParaRPr lang="ko-KR" altLang="en-US" sz="1300" dirty="0"/>
          </a:p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선정 기준(±20% 적중·중앙값 오차·MAPE, 세 상황 순위, 부트스트랩 95% 구간, 단순성)을 결과 전에 문서로 고정</a:t>
            </a:r>
            <a:endParaRPr lang="ko-KR" altLang="en-US" sz="1300" dirty="0"/>
          </a:p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결과: XGB-평균이 평균 순위 1위(1.8), 가장 나쁜 순위 기준으로도 1위(2.3). 직접 방식은 T에서, 잔차 방식은 A에서 약해 둘의 평균을 채택</a:t>
            </a:r>
            <a:endParaRPr lang="ko-KR" altLang="en-US" sz="13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32320" y="1234440"/>
          <a:ext cx="4507992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987552"/>
                <a:gridCol w="1188720"/>
                <a:gridCol w="1188720"/>
              </a:tblGrid>
              <a:tr h="41148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학습 기간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학습 거래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 ±20% / 중앙값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 ±20% / 중앙값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3년(채택)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14,520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79.0% / 9.3%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80.2% / 9.0%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5년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24,531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79.0% / 9.7%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78.5% / 9.3%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6년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33,886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74.5% / 9.9%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78.2% / 9.5%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7132320" y="3474720"/>
            <a:ext cx="450799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3년 − 6년: A ±20% 적중 +4.4%p [+2.2, +6.8], 평균 오차 A −1.1%p · B −0.9%p(부트스트랩 95% 구간). 최종 검증과 분리한 보정 표본에서도 같은 방향(72.5% → 75.9%)</a:t>
            </a:r>
            <a:endParaRPr lang="ko-KR" alt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355080"/>
            <a:ext cx="101800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000" dirty="0">
                <a:solidFill>
                  <a:srgbClr val="8A898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docs/의사결정/1007_10_ML_비교.md, 1007_13_오차_분석.md · 학습 기간 표는 철거된 건물 거래를 빼기 전(1008_02) 비교 당시 값</a:t>
            </a:r>
            <a:endParaRPr lang="ko-KR" alt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eaLnBrk="0" algn="r"/>
            <a:fld id="{F7021451-1387-4CA6-816F-3879F97B5CBC}" type="slidenum">
              <a:rPr b="0" lang="ko-KR" altLang="en-US"/>
              <a:t>27</a:t>
            </a:fld>
            <a:endParaRPr lang="ko-KR" alt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eaLnBrk="0" indent="0" marL="0">
              <a:buNone/>
            </a:pPr>
            <a:r>
              <a:rPr lang="ko-KR" altLang="en-US" sz="11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AVM  /  부록 E</a:t>
            </a:r>
            <a:endParaRPr lang="ko-KR" alt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80% 구간과 신뢰도 계산 방법</a:t>
            </a:r>
            <a:endParaRPr lang="ko-KR" alt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2542032" cy="1600200"/>
          </a:xfrm>
          <a:prstGeom prst="roundRect">
            <a:avLst>
              <a:gd name="adj" fmla="val 4571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353312"/>
            <a:ext cx="2176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5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보정 표본</a:t>
            </a:r>
            <a:endParaRPr lang="ko-KR" alt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783080"/>
            <a:ext cx="21762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검증 632개를 뺀 후보 건물</a:t>
            </a:r>
            <a:endParaRPr lang="ko-KR" altLang="en-US" sz="1200" dirty="0"/>
          </a:p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2,524개를 5묶음으로 나눠</a:t>
            </a:r>
            <a:endParaRPr lang="ko-KR" altLang="en-US" sz="1200" dirty="0"/>
          </a:p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돌아가며 추정 → 오차 약 1만 건</a:t>
            </a:r>
            <a:endParaRPr lang="ko-KR" alt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127248" y="2029968"/>
            <a:ext cx="201168" cy="0"/>
          </a:xfrm>
          <a:prstGeom prst="line">
            <a:avLst/>
          </a:prstGeom>
          <a:noFill/>
          <a:ln w="19050">
            <a:solidFill>
              <a:srgbClr val="8A8984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3364992" y="1234440"/>
            <a:ext cx="2542032" cy="1600200"/>
          </a:xfrm>
          <a:prstGeom prst="roundRect">
            <a:avLst>
              <a:gd name="adj" fmla="val 4571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47872" y="1353312"/>
            <a:ext cx="2176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5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 오차 점수</a:t>
            </a:r>
            <a:endParaRPr lang="ko-KR" alt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547872" y="1783080"/>
            <a:ext cx="21762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예측할 때 알 수 있는 정보로</a:t>
            </a:r>
            <a:endParaRPr lang="ko-KR" altLang="en-US" sz="1200" dirty="0"/>
          </a:p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'얼마나 틀릴지'를 회귀로 추정</a:t>
            </a:r>
            <a:endParaRPr lang="ko-KR" alt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943600" y="2029968"/>
            <a:ext cx="201168" cy="0"/>
          </a:xfrm>
          <a:prstGeom prst="line">
            <a:avLst/>
          </a:prstGeom>
          <a:noFill/>
          <a:ln w="19050">
            <a:solidFill>
              <a:srgbClr val="8A8984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6181344" y="1234440"/>
            <a:ext cx="2542032" cy="1600200"/>
          </a:xfrm>
          <a:prstGeom prst="roundRect">
            <a:avLst>
              <a:gd name="adj" fmla="val 4571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4224" y="1353312"/>
            <a:ext cx="2176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5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 10개 구간</a:t>
            </a:r>
            <a:endParaRPr lang="ko-KR" alt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364224" y="1783080"/>
            <a:ext cx="21762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오차 점수 순으로 표본을</a:t>
            </a:r>
            <a:endParaRPr lang="ko-KR" altLang="en-US" sz="1200" dirty="0"/>
          </a:p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10등분해 구간마다 오차 분포 저장</a:t>
            </a:r>
            <a:endParaRPr lang="ko-KR" alt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759952" y="2029968"/>
            <a:ext cx="201168" cy="0"/>
          </a:xfrm>
          <a:prstGeom prst="line">
            <a:avLst/>
          </a:prstGeom>
          <a:noFill/>
          <a:ln w="19050">
            <a:solidFill>
              <a:srgbClr val="8A8984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8997696" y="1234440"/>
            <a:ext cx="2542032" cy="1600200"/>
          </a:xfrm>
          <a:prstGeom prst="roundRect">
            <a:avLst>
              <a:gd name="adj" fmla="val 4571"/>
            </a:avLst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80576" y="1353312"/>
            <a:ext cx="2176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④ 적용</a:t>
            </a:r>
            <a:endParaRPr lang="ko-KR" alt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9180576" y="1783080"/>
            <a:ext cx="21762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 물건의 오차 점수가 속한</a:t>
            </a:r>
            <a:endParaRPr lang="ko-KR" altLang="en-US" sz="1200" dirty="0"/>
          </a:p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구간의 값으로 범위·신뢰도 산출</a:t>
            </a:r>
            <a:endParaRPr lang="ko-KR" altLang="en-US" sz="12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108960"/>
          <a:ext cx="11094415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931920"/>
                <a:gridCol w="5790895"/>
              </a:tblGrid>
              <a:tr h="36576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계산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설명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로그 오차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 = log(추정 ÷ 실제)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0이면 정확, +면 높게, −면 낮게 추정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오차 점수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점수 = Σ 계수 × 변수 (|e|를 최소제곱 회귀)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변수: 동네·같은 건물 비율의 흩어짐, 같은 건물 거래 수, 면적, 강남·화곡, 면적 빈칸,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XGBoost 두 추정의 차이, 보정 배율, 지하층, 30년 초과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80% 범위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하한 = 추정 ÷ exp(q90),  상한 = 추정 ÷ exp(q10)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q10·q90 = 그 구간 로그 오차의 10%·90% 분위수(정규분포 가정 없음)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신뢰도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그 구간에서 |추정 ÷ 실제 − 1| ≤ 0.2 인 비율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점수가 클수록 낮아지도록 단조 보정(isotonic)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예외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공시가격 없음 → 신뢰도 0.10 고정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보정 표본이 20건뿐이라 별도 처리. 수집에 없는 지번은 실행 중 공공 API 조회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Text 17"/>
          <p:cNvSpPr txBox="1"/>
          <p:nvPr/>
        </p:nvSpPr>
        <p:spPr>
          <a:xfrm>
            <a:off x="548640" y="6355080"/>
            <a:ext cx="101800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000" dirty="0">
                <a:solidFill>
                  <a:srgbClr val="8A898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docs/의사결정/1007_09_구간_신뢰도_보정.md, 1007_12_실행_중_조회.md, 1007_13_오차_분석.md · src/avm.py Calibrator</a:t>
            </a:r>
            <a:endParaRPr lang="ko-KR" alt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eaLnBrk="0" algn="r"/>
            <a:fld id="{F7021451-1387-4CA6-816F-3879F97B5CBC}" type="slidenum">
              <a:rPr b="0" lang="ko-KR" altLang="en-US"/>
              <a:t>28</a:t>
            </a:fld>
            <a:endParaRPr lang="ko-KR" alt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eaLnBrk="0" indent="0" marL="0">
              <a:buNone/>
            </a:pPr>
            <a:r>
              <a:rPr lang="ko-KR" altLang="en-US" sz="11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AVM  /  부록 F</a:t>
            </a:r>
            <a:endParaRPr lang="ko-KR" alt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직접 만든 시점 지수를 한국부동산원 지수와 비교</a:t>
            </a:r>
            <a:endParaRPr lang="ko-KR" altLang="en-US" sz="2600" dirty="0"/>
          </a:p>
        </p:txBody>
      </p:sp>
      <p:pic>
        <p:nvPicPr>
          <p:cNvPr id="4" name="Image 0" descr="C:\DA_WorkSpace\DA_Seoul_Villa_AVM\outputs\figures\reb_index_compa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11094415" cy="3246419"/>
          </a:xfrm>
          <a:prstGeom prst="rect">
            <a:avLst/>
          </a:prstGeom>
        </p:spPr>
      </p:pic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72299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651760"/>
                <a:gridCol w="1463040"/>
                <a:gridCol w="2103120"/>
                <a:gridCol w="2499055"/>
              </a:tblGrid>
              <a:tr h="329184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최근 3년(모델 학습 기간)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비교 대상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수준 상관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3개월 변화 같은 방향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3년 변화(우리 / 부동산원)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강서구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서남권(주택가격동향조사)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0.72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56%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+2.7% / +10.8%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관악구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서남권(주택가격동향조사)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0.92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69%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+8.9% / +10.8%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강남구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동남권(주택가격동향조사)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0.90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72%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+13.1% / +15.9%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6355080"/>
            <a:ext cx="101800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000" dirty="0">
                <a:solidFill>
                  <a:srgbClr val="8A898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감정평가 실무의 시점수정(구분건물은 다세대 매매가격지수)과 같은 역할입니다. 공식 지수는 권역 단위라 모델에는 구 단위인 자체 지수를 쓰고 공식 지수는 검증에만 썼습니다. 강서는 회복을 덜 반영하지만 검증에서 낮게 치우치지 않았습니다(치우침 −1%) · 출처: 한국부동산원 R-ONE, docs/의사결정/1008_03</a:t>
            </a:r>
            <a:endParaRPr lang="ko-KR" alt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eaLnBrk="0" algn="r"/>
            <a:fld id="{F7021451-1387-4CA6-816F-3879F97B5CBC}" type="slidenum">
              <a:rPr b="0" lang="ko-KR" altLang="en-US"/>
              <a:t>29</a:t>
            </a:fld>
            <a:endParaRPr lang="ko-KR" alt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eaLnBrk="0" indent="0" marL="0">
              <a:buNone/>
            </a:pPr>
            <a:r>
              <a:rPr lang="ko-KR" altLang="en-US" sz="11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AVM  /  부록 G</a:t>
            </a:r>
            <a:endParaRPr lang="ko-KR" alt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하우스머치 참고 비교 9건(입력·학습에는 사용하지 않음)</a:t>
            </a:r>
            <a:endParaRPr lang="ko-KR" altLang="en-US" sz="26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94415" cy="914400"/>
        </p:xfrm>
        <a:graphic>
          <a:graphicData uri="http://schemas.openxmlformats.org/drawingml/2006/table">
            <a:tbl>
              <a:tblPr/>
              <a:tblGrid>
                <a:gridCol w="4876495"/>
                <a:gridCol w="3108960"/>
                <a:gridCol w="3108960"/>
              </a:tblGrid>
              <a:tr h="45720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endParaRPr lang="ko-KR" alt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우리</a:t>
                      </a:r>
                      <a:endParaRPr lang="ko-KR" alt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하우스머치</a:t>
                      </a:r>
                      <a:endParaRPr lang="ko-KR" alt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4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보통 오차(중앙값): 9건 / 중개거래 7건</a:t>
                      </a:r>
                      <a:endParaRPr lang="ko-KR" alt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4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11.1% / 9.9%</a:t>
                      </a:r>
                      <a:endParaRPr lang="ko-KR" alt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4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5.6% / 4.8%</a:t>
                      </a:r>
                      <a:endParaRPr lang="ko-KR" alt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4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실거래가 ±20% 안 (9건)</a:t>
                      </a:r>
                      <a:endParaRPr lang="ko-KR" alt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4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6건</a:t>
                      </a:r>
                      <a:endParaRPr lang="ko-KR" alt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4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7건</a:t>
                      </a:r>
                      <a:endParaRPr lang="ko-KR" alt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4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실거래가가 범위 안 (9건)</a:t>
                      </a:r>
                      <a:endParaRPr lang="ko-KR" alt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4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7건 (80% 구간)</a:t>
                      </a:r>
                      <a:endParaRPr lang="ko-KR" alt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4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3건 (상하한시세)</a:t>
                      </a:r>
                      <a:endParaRPr lang="ko-KR" alt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291840"/>
          <a:ext cx="667512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371600"/>
                <a:gridCol w="1005840"/>
                <a:gridCol w="1463040"/>
                <a:gridCol w="914400"/>
              </a:tblGrid>
              <a:tr h="27432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주소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거래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실거래가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우리 추정 (신뢰도)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우리 오차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화곡동 362-79 6층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중개 2026-09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2.15억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2.04억 (0.83)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−5.0%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화곡동 811-9 1층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중개 2026-06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2.60억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2.31억 (0.78)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−11.1%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화곡동 1016-19 4층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중개 2026-08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2.70억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2.97억 (0.69)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+9.9%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봉천동 218-42 1층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중개 2026-08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6.35억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5.93억 (0.88)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−6.6%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신림동 98-242 3층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직거래 2026-05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1.20억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1.86억 (0.78)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+55.0%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신림동 409-184 3층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중개 2026-07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3.75억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3.34억 (0.64)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−11.1%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개포동 1195-3 3층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중개 2026-08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5.78억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5.37억 (0.86)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−7.0%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청담동 69-19 2층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직거래 2026-04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3.87억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7.41억 (0.74)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+91.4%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역삼동 751-8 5층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중개 2026-01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5.20억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6.41억 (0.58)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+23.3%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7498080" y="3291840"/>
            <a:ext cx="414497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9건에서는 하우스머치가 실거래가에 더 가까웠습니다</a:t>
            </a:r>
            <a:endParaRPr lang="ko-KR" altLang="en-US" sz="1200" dirty="0"/>
          </a:p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조건 차이: 우리 값은 해당 거래를 빼고 낸 추정입니다. 하우스머치는 9건 중 8건이 추정 기준일(09-01) 이전 거래이고, 화면을 저장한 811-9는 그 거래가 거래사례 목록에 있었습니다</a:t>
            </a:r>
            <a:endParaRPr lang="ko-KR" altLang="en-US" sz="1200" dirty="0"/>
          </a:p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기준일 이후 거래(첫 줄)도 하우스머치가 더 가까웠습니다</a:t>
            </a:r>
            <a:endParaRPr lang="ko-KR" altLang="en-US" sz="1200" dirty="0"/>
          </a:p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직거래 2건은 둘 다 높게 추정했고, 우리 오차가 더 컸습니다</a:t>
            </a:r>
            <a:endParaRPr lang="ko-KR" altLang="en-US" sz="1200" dirty="0"/>
          </a:p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 신뢰도가 가장 낮았던 역삼동(0.58)이 중개거래 중 오차가 가장 컸습니다</a:t>
            </a:r>
            <a:endParaRPr lang="ko-KR" alt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6355080"/>
            <a:ext cx="101800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000" dirty="0">
                <a:solidFill>
                  <a:srgbClr val="8A898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9건은 권역 × 신뢰도 높음·중간·낮음에서 무작위 선정(시드 7), 하우스머치는 직접 조회(2026-10-08, 기준일 2026-09-01). 건별 하우스머치 값은 이용약관(저작권·복제 금지)에 따라 싣지 않았습니다 · 출처: 하우스머치, docs/의사결정/1008_04</a:t>
            </a:r>
            <a:endParaRPr lang="ko-KR" alt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eaLnBrk="0" algn="r"/>
            <a:fld id="{F7021451-1387-4CA6-816F-3879F97B5CBC}" type="slidenum">
              <a:rPr b="0" lang="ko-KR" altLang="en-US"/>
              <a:t>30</a:t>
            </a:fld>
            <a:endParaRPr lang="ko-KR" alt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서울 다세대(빌라) 자동 시세 산정 모델</dc:title>
  <dc:subject>PptxGenJS Presentation</dc:subject>
  <dc:creator>김인석</dc:creator>
  <cp:lastModifiedBy>김인석</cp:lastModifiedBy>
  <cp:revision>1</cp:revision>
  <dcterms:created xsi:type="dcterms:W3CDTF">2026-10-08T14:59:28Z</dcterms:created>
  <dcterms:modified xsi:type="dcterms:W3CDTF">2026-10-08T14:59:28Z</dcterms:modified>
</cp:coreProperties>
</file>