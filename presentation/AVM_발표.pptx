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방법마다 가장 좋은 계산 방식의 ±20% 적중률(과거 거래가 있는 건물)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±20% 적중률</c:v>
                </c:pt>
              </c:strCache>
            </c:strRef>
          </c:tx>
          <c:spPr>
            <a:solidFill>
              <a:srgbClr val="9FB4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64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기본 추정</c:v>
                  </c:pt>
                  <c:pt idx="1">
                    <c:v>선형 회귀</c:v>
                  </c:pt>
                  <c:pt idx="2">
                    <c:v>비슷한 거래 평균</c:v>
                  </c:pt>
                  <c:pt idx="3">
                    <c:v>랜덤포레스트</c:v>
                  </c:pt>
                  <c:pt idx="4">
                    <c:v>XGBoost(선택)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73.7</c:v>
                </c:pt>
                <c:pt idx="1">
                  <c:v>73.7</c:v>
                </c:pt>
                <c:pt idx="2">
                  <c:v>77.1</c:v>
                </c:pt>
                <c:pt idx="3">
                  <c:v>77.2</c:v>
                </c:pt>
                <c:pt idx="4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eaLnBrk="0" algn="l" indent="0" marL="0">
              <a:buNone/>
            </a:pPr>
            <a:endParaRPr lang="ko-KR" alt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eaLnBrk="0" indent="0" marL="0">
              <a:buNone/>
            </a:pP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1002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분석 과제 전형  |  제출 자료</a:t>
            </a:r>
            <a:endParaRPr lang="ko-KR" alt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 다세대(빌라)</a:t>
            </a:r>
            <a:endParaRPr lang="ko-KR" altLang="en-US" sz="40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시세 산정 모델</a:t>
            </a:r>
            <a:endParaRPr lang="ko-KR" alt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지번·층·호를 넣으면 시세·범위·신뢰도·근거를 산출합니다  |  강서구 화곡동 · 관악구 · 강남구  |  기준일 2026-10-06(과제 안내일)</a:t>
            </a:r>
            <a:endParaRPr lang="ko-KR" alt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지원자 김인석</a:t>
            </a:r>
            <a:endParaRPr lang="ko-KR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github.com/KimInSeok-DA/DA_Seoul_Villa_AVM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한눈에 보기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공시가격에서 출발해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특징으로 보정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결과, 추정값은 실제 거래가와 보통 9% 차이가 났고 10건 중 8건이 ±20% 안에 들었습니다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9%</a:t>
            </a:r>
            <a:endParaRPr lang="ko-KR" alt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가격과의 보통 오차(두 검증 상황 평균)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79%</a:t>
            </a:r>
            <a:endParaRPr lang="ko-KR" alt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 ±20% 안에 든 비율(두 검증 상황 평균)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ko-KR" alt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 초과 물건의 ±20% 적중률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ko-KR" alt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 계산(기준 30분 이내)</a:t>
            </a:r>
            <a:endParaRPr lang="ko-KR" alt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ko-KR" alt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</a:t>
            </a:r>
            <a:endParaRPr lang="ko-KR" alt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6년 치 실거래에서 이상 거래를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제외하고 최근 3년 1만 4천 건 사용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ko-KR" alt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추정</a:t>
            </a:r>
            <a:endParaRPr lang="ko-KR" alt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× 그 동네의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배율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ko-KR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머신러닝 보정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연식·층·승강기·위치 등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덜 반영한 요인</a:t>
            </a:r>
            <a:endParaRPr lang="ko-KR" alt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5256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ko-KR" alt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범위·신뢰도 계산</a:t>
            </a:r>
            <a:endParaRPr lang="ko-KR" alt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오차로 가격 범위와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산출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크게 빗나간 경우는 대부분 직거래처럼 사정이 있을 수 있는, 시세와 다른 가격의 거래였습니다. 이런 사정은 주소만으로는 알 수 없어 한계로 정리했고, 지하층·노후 건물처럼 미리 알 수 있는 위험은 신뢰도를 낮춰 표시합니다.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읽는 법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자료를 읽는 데 필요한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네 가지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예시: 화곡동 빌라 한 채를 넣으면 추정 2.41억, 범위 1.99억～2.84억, 신뢰도 0.83이 나옵니다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32720" cy="0"/>
          </a:xfrm>
          <a:prstGeom prst="line">
            <a:avLst/>
          </a:prstGeom>
          <a:noFill/>
          <a:ln w="19050">
            <a:solidFill>
              <a:srgbClr val="D9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12059" y="2240280"/>
            <a:ext cx="5855208" cy="365760"/>
          </a:xfrm>
          <a:prstGeom prst="roundRect">
            <a:avLst>
              <a:gd name="adj" fmla="val 50000"/>
            </a:avLst>
          </a:prstGeom>
          <a:solidFill>
            <a:srgbClr val="CADBF3"/>
          </a:solidFill>
          <a:ln w="12700">
            <a:solidFill>
              <a:srgbClr val="CADB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58917" y="2276856"/>
            <a:ext cx="292608" cy="292608"/>
          </a:xfrm>
          <a:prstGeom prst="ellipse">
            <a:avLst/>
          </a:prstGeom>
          <a:solidFill>
            <a:srgbClr val="1B26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0821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2.41억</a:t>
            </a:r>
            <a:endParaRPr lang="ko-KR" alt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363419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1.99억</a:t>
            </a:r>
            <a:endParaRPr lang="ko-KR" alt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18627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2.84억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오차율</a:t>
            </a:r>
            <a:endParaRPr lang="ko-KR" alt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추정값이 실제 거래가와 몇 % 다른지를 나타냅니다. 여러 건의 가운데 값(중앙값)을 썼고, 이 모델은 약 9%입니다</a:t>
            </a:r>
            <a:endParaRPr lang="ko-KR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79394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7994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±20% 적중률</a:t>
            </a:r>
            <a:endParaRPr lang="ko-KR" alt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7994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추정값이 실제 가격의 ±20% 안에 든 비율입니다. 3억 원짜리 집이면 2.4억～3.6억이고, 이 모델은 10건 중 8건입니다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0148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</a:t>
            </a:r>
            <a:endParaRPr lang="ko-KR" alt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막대의 하한～상한입니다. 실제 가격이 10번 중 8번 들어오도록 계산했고, 검증에서는 77～83%였습니다</a:t>
            </a:r>
            <a:endParaRPr lang="ko-KR" alt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신뢰도(0～1)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추정이 ±20% 안에 들 가능성입니다. 0.8이면 비슷한 물건 10건 중 8건이 맞았다는 뜻이며, 낮을수록 주의가 필요합니다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목차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8가지 항목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순서로 구성했습니다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숫자는 해당 장 번호입니다. 기술 상세는 부록(24～30장)에 정리했습니다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alt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55648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스택</a:t>
            </a:r>
            <a:endParaRPr lang="ko-KR" alt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103120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언어·라이브러리·모델·AI 도구·API</a:t>
            </a:r>
            <a:endParaRPr lang="ko-KR" alt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61408" y="1600200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ko-KR" alt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42616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642616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alt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798064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소스</a:t>
            </a:r>
            <a:endParaRPr lang="ko-KR" alt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45536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출처·수집 방식·건수, 정제 방법</a:t>
            </a:r>
            <a:endParaRPr lang="ko-KR" alt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61408" y="2642616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6～7</a:t>
            </a:r>
            <a:endParaRPr lang="ko-KR" alt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685032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alt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3840480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요인</a:t>
            </a:r>
            <a:endParaRPr lang="ko-KR" alt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187952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변수와 제외한 변수, 그 이유</a:t>
            </a:r>
            <a:endParaRPr lang="ko-KR" alt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61408" y="3685032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8～10</a:t>
            </a:r>
            <a:endParaRPr lang="ko-KR" alt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727448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27448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alt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882896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설계</a:t>
            </a:r>
            <a:endParaRPr lang="ko-KR" alt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5230368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흐름도, 13가지 방법 비교</a:t>
            </a:r>
            <a:endParaRPr lang="ko-KR" alt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61408" y="4727448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11～12</a:t>
            </a:r>
            <a:endParaRPr lang="ko-KR" alt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33008" y="1600200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61608" y="1600200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alt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238848" y="1755648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검증</a:t>
            </a:r>
            <a:endParaRPr lang="ko-KR" alt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7238848" y="2103120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632개 건물 검증, 신뢰도, 잘 맞힌·빗나간 사례</a:t>
            </a:r>
            <a:endParaRPr lang="ko-KR" alt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545775" y="1600200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13～16</a:t>
            </a:r>
            <a:endParaRPr lang="ko-KR" alt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233008" y="2642616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61608" y="2642616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alt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238848" y="2798064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산출</a:t>
            </a:r>
            <a:endParaRPr lang="ko-KR" alt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7238848" y="3145536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3건의 입력·출력·근거, 실제 실행 화면</a:t>
            </a:r>
            <a:endParaRPr lang="ko-KR" alt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545775" y="2642616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17～18</a:t>
            </a:r>
            <a:endParaRPr lang="ko-KR" alt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33008" y="3685032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1608" y="3685032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alt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238848" y="3840480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</a:t>
            </a:r>
            <a:endParaRPr lang="ko-KR" alt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238848" y="4187952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 역할, AI 오류와 확인 방법</a:t>
            </a:r>
            <a:endParaRPr lang="ko-KR" alt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545775" y="3685032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19～20</a:t>
            </a:r>
            <a:endParaRPr lang="ko-KR" alt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233008" y="4727448"/>
            <a:ext cx="541004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61608" y="4727448"/>
            <a:ext cx="731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ko-KR" alt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7238848" y="4882896"/>
            <a:ext cx="330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7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한계와 개선안</a:t>
            </a:r>
            <a:endParaRPr lang="ko-KR" alt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7238848" y="5230368"/>
            <a:ext cx="330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방향</a:t>
            </a:r>
            <a:endParaRPr lang="ko-KR" alt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545775" y="4727448"/>
            <a:ext cx="868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1  기술 스택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Python으로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수집부터 추정까지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구현했습니다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데이터는 공공데이터포털·VWorld 등 공공 API에서 직접 수집했습니다(버전·출처 상세는 부록 B)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</a:t>
            </a:r>
            <a:endParaRPr lang="ko-KR" alt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</a:t>
            </a:r>
            <a:endParaRPr lang="ko-KR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수집·분석·실행을 한 언어로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처리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pandas · numpy</a:t>
            </a:r>
            <a:endParaRPr lang="ko-KR" alt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데이터 결합과 정제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머신러닝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XGBoost · scikit-learn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방법 비교 후 최종 모델 선정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데이터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공공데이터포털·VWorld</a:t>
            </a:r>
            <a:endParaRPr lang="ko-KR" alt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실거래가, 공시가격, 건축물대장, 좌표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시각화·기록</a:t>
            </a:r>
            <a:endParaRPr lang="ko-KR" alt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Jupyter·matplotlib·Git</a:t>
            </a:r>
            <a:endParaRPr lang="ko-KR" alt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노트북, 그래프, 작업 이력 공개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</a:t>
            </a:r>
            <a:endParaRPr lang="ko-KR" alt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</a:t>
            </a:r>
            <a:endParaRPr lang="ko-KR" alt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작성·점검·문서화 보조(7번 항목)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2  데이터 소스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데이터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8가지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주소(지번) 기준으로 연결했습니다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건축물대장은 현행·말소, 코드는 법정동·행정동 각 2종이라 카드 6장에 8가지입니다. 다세대와 연립을 모두 포함했습니다(상세는 부록 B)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거래 가격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2020-10 ~ 2026-10 매매 36,997건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</a:t>
            </a:r>
            <a:endParaRPr lang="ko-KR" alt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정부가 매긴 호별 가격</a:t>
            </a:r>
            <a:endParaRPr lang="ko-KR" alt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2026년, 107,236호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건축물대장(현행·말소)</a:t>
            </a:r>
            <a:endParaRPr lang="ko-KR" alt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사용승인일·승강기·층수, 철거 여부</a:t>
            </a:r>
            <a:endParaRPr lang="ko-KR" alt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9,928개 지번 + 말소 49,074지번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좌표·땅값</a:t>
            </a:r>
            <a:endParaRPr lang="ko-KR" alt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좌표와 ㎡당 공시지가</a:t>
            </a:r>
            <a:endParaRPr lang="ko-KR" alt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구 123,615필지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지하철역</a:t>
            </a:r>
            <a:endParaRPr lang="ko-KR" alt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가까운 역까지 거리</a:t>
            </a:r>
            <a:endParaRPr lang="ko-KR" alt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275개 역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법정동·행정동 코드</a:t>
            </a:r>
            <a:endParaRPr lang="ko-KR" alt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주소를 고유번호(PNU)로 변환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 법정동, 행정동 63개 연결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좌표는 지도 서비스(Kakao 등) 대신 정부 연속지적도에서 받았습니다. 지도 서비스는 약관상 결과를 저장할 수 없기 때문입니다.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2  데이터 다듬기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 거래를 제외하고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3년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거래로 학습했습니다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취소, 시세와 동떨어진 가격(가족 간 거래 등), 철거된 옛 건물의 거래를 걸러 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36,997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002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매매 거래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591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5915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−2,188</a:t>
            </a:r>
            <a:endParaRPr lang="ko-KR" alt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3591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계약이 취소된 거래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18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−331</a:t>
            </a:r>
            <a:endParaRPr lang="ko-KR" alt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11810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공시가격보다 지나치게 낮은 거래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(가족 간 거래 등으로 추정)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7705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−1,115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387705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철거된 옛 건물의 거래,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호를 한꺼번에 판 거래</a:t>
            </a:r>
            <a:endParaRPr lang="ko-KR" alt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33,363</a:t>
            </a:r>
            <a:endParaRPr lang="ko-KR" alt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46360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정제 후 거래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949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14,401</a:t>
            </a:r>
            <a:endParaRPr lang="ko-KR" alt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3949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학습에 쓴 최근 3년</a:t>
            </a:r>
            <a:endParaRPr lang="ko-KR" altLang="en-US" sz="1200" dirty="0"/>
          </a:p>
        </p:txBody>
      </p:sp>
      <p:pic>
        <p:nvPicPr>
          <p:cNvPr id="23" name="Image 0" descr="C:\DA_WorkSpace\DA_Seoul_Villa_AVM\outputs\figures\eda_A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29149"/>
            <a:ext cx="6903720" cy="2822461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937760" y="47091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거래량은 2021년에 가장 많았고 2023년까지 크게 줄었습니다. 시장 상황이 달라 오래된 거래는 현재 시세와 잘 맞지 않습니다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 기간 3년·5년·6년을 같은 방식으로 검증한 결과, 최근 3년이 가장 정확했습니다(처음 보는 건물 기준 적중 10건 중 7.5건 → 8건)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3  시세 요인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하나로 실제 가격 차이의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87%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설명할 수 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공시가격을 추정의 출발점으로 삼았습니다. 실거래가는 보통 공시가격의 1.76배입니다</a:t>
            </a:r>
            <a:endParaRPr lang="ko-KR" altLang="en-US" sz="1500" dirty="0"/>
          </a:p>
        </p:txBody>
      </p:sp>
      <p:pic>
        <p:nvPicPr>
          <p:cNvPr id="5" name="Image 0" descr="C:\DA_WorkSpace\DA_Seoul_Villa_AVM\outputs\figures\eda_B1_price_vs_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694"/>
            <a:ext cx="4572000" cy="4288692"/>
          </a:xfrm>
          <a:prstGeom prst="rect">
            <a:avLst/>
          </a:prstGeom>
        </p:spPr>
      </p:pic>
      <p:pic>
        <p:nvPicPr>
          <p:cNvPr id="6" name="Image 1" descr="C:\DA_WorkSpace\DA_Seoul_Villa_AVM\outputs\figures\eda_B2_r2_single_fea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473" y="1508760"/>
            <a:ext cx="5994894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443484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왼쪽: 점 하나가 거래 1건입니다. 공시가격이 높을수록 실거래가도 높아 점들이 한 줄로 모입니다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오른쪽: 요인별 설명력입니다. 공시가격 하나(87%)가 면적·지역·땅값·연식·역·층을 함께 넣은 선형 회귀(72%)보다 큽니다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공시가격은 정부가 위치·면적·층·연식을 따져 호마다 매긴 가격이라 이미 많은 정보를 담고 있습니다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3  시세 요인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덜 반영하는 요인: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건물과 저층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같아도 노후 건물·지하·1층은 공시가격 대비 더 높게 거래됩니다. 이 차이를 머신러닝으로 보정했습니다</a:t>
            </a:r>
            <a:endParaRPr lang="ko-KR" altLang="en-US" sz="1500" dirty="0"/>
          </a:p>
        </p:txBody>
      </p:sp>
      <p:pic>
        <p:nvPicPr>
          <p:cNvPr id="5" name="Image 0" descr="C:\DA_WorkSpace\DA_Seoul_Villa_AVM\outputs\figures\eda_C1_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69" y="1554480"/>
            <a:ext cx="6576702" cy="2377440"/>
          </a:xfrm>
          <a:prstGeom prst="rect">
            <a:avLst/>
          </a:prstGeom>
        </p:spPr>
      </p:pic>
      <p:pic>
        <p:nvPicPr>
          <p:cNvPr id="6" name="Image 1" descr="C:\DA_WorkSpace\DA_Seoul_Villa_AVM\outputs\figures\eda_C2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9" y="3977640"/>
            <a:ext cx="6566263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0" y="1600200"/>
            <a:ext cx="4050792" cy="4572000"/>
          </a:xfrm>
          <a:prstGeom prst="roundRect">
            <a:avLst>
              <a:gd name="adj" fmla="val 180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그래프: 새 건물일수록 ㎡당 가격이 높습니다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그래프: 그러나 '실거래가 ÷ 공시가격' 배율은 노후 건물이 더 높습니다(강남 1.77배 → 2.12배). 재개발 기대가 공시가격에 덜 반영된 것으로 보입니다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지하층의 ㎡당 가격은 지상의 54～59%이고, 배율은 지하·1층이 높습니다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차이를 연식·층·승강기·면적·위치 정보로 보정합니다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3  시세 요인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정보와 제외한 정보: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층으로 알 수 있는 것만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사용했습니다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시점에 알 수 없는 정보(예: 직거래 여부)는 가격에 영향이 커도 사용할 수 없습니다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정보</a:t>
            </a:r>
            <a:endParaRPr lang="ko-KR" alt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공시가격, 동네 실거래 배율, 시기별 시세 변화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연식 · 층(지하·꼭대기 층 여부) · 건물 층수 · 전용면적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· 세대수 · 세대당 주차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지하철역 거리 · 땅값 · 위치(좌표) · 지역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머신러닝 중요도가 높은 정보: 연식 · 지역 · 층 · 건물 층수 · 면적 · 위치</a:t>
            </a:r>
            <a:endParaRPr lang="ko-KR" alt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제외한 정보와 이유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 여부, 매도·매수인 정보: 추정 시점에 알 수 없음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전월세: 전세금은 매매가와 성격이 다름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건축년도: 연식과 중복 / 동 수: 세대수와 거의 중복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구조: 90%가 철근콘크리트라 구별력이 없음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학교·공원 거리: 기간 내 반영하지 못함(개선안)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4  모델 설계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한 줄이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시세·범위·신뢰도·근거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되는 과정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실행할 때마다 저장된 거래로 다시 계산하므로, 새 거래를 정제 데이터에 추가하고 다시 실행하면 반영됩니다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입력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구·동·지번·층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호·면적(빈칸 허용)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주소 확인</a:t>
            </a:r>
            <a:endParaRPr lang="ko-KR" alt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고유번호(PNU)로 변환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밖이면 사유와 함께 실패 처리</a:t>
            </a:r>
            <a:endParaRPr lang="ko-KR" alt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공시가격 찾기</a:t>
            </a:r>
            <a:endParaRPr lang="ko-KR" alt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데이터에 없으면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중 공공 API 조회</a:t>
            </a:r>
            <a:endParaRPr lang="ko-KR" alt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기본 추정</a:t>
            </a:r>
            <a:endParaRPr lang="ko-KR" alt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× 실거래 배율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(같은 건물 거래 우선)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머신러닝 보정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연식·층·위치 등으로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추정 보정</a:t>
            </a:r>
            <a:endParaRPr lang="ko-KR" alt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추정값</a:t>
            </a:r>
            <a:endParaRPr lang="ko-KR" alt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보정한 두 값의 평균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범위·신뢰도</a:t>
            </a:r>
            <a:endParaRPr lang="ko-KR" alt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물건의 과거 오차로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범위·신뢰도 산출</a:t>
            </a:r>
            <a:endParaRPr lang="ko-KR" alt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⑧ 출력</a:t>
            </a:r>
            <a:endParaRPr lang="ko-KR" alt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추정·하한·상한·신뢰도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한 줄</a:t>
            </a:r>
            <a:endParaRPr lang="ko-KR" alt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⑤의 두 값은 건물 특징만으로 직접 낸 가격과, ④가 빗나갈 정도를 예측해 고친 가격입니다. 장단점이 달라 두 값의 평균을 씁니다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4  모델 설계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13가지 방법을 같은 조건으로 비교해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안정적인 방법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방식: 일부 건물을 따로 떼어 두고, 나머지로 학습한 뒤 떼어 둔 건물의 실거래가를 맞혔습니다</a:t>
            </a:r>
            <a:endParaRPr lang="ko-KR" alt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1508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007815"/>
              </a:tblGrid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선형 회귀 · 비슷한 거래 평균 · 랜덤포레스트 · XGBoost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계산 방식 3가지 + 기본 추정 = 13가지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상황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처음 보는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과거 거래가 있는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1년 전 모델로 1년 뒤 예측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분리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 단위로 분리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(같은 건물이 학습·검증에 섞이면 성적이 부풀려짐)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선정 기준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결과를 보기 전에 확정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2,000회 재표본으로 차이가 우연인지 확인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XGBoost(두 방식의 평균): 세 상황 모두 상위권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랜덤포레스트 잔차 방식은 한 상황 78.8%였으나 다른 상황에서 순위가 낮음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용어(GroupKFold·그리드서치·부트스트랩)와 상세 결과는 부록 D · 그래프는 학습 기간 6년으로 비교할 당시의 값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학습에 쓰지 않은 632개 건물로 검증한 결과,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10건 중 8건이 ±20% 안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들었습니다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1년 거래가 있는 건물 3,159개 중 632개를 미리 떼어 두고, 건물마다 가장 최근 거래가를 맞혔습니다</a:t>
            </a:r>
            <a:endParaRPr lang="ko-KR" alt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377440"/>
                <a:gridCol w="2864815"/>
              </a:tblGrid>
              <a:tr h="56692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상황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보통 오차(중앙값)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±20% 안에 든 비율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가격이 80% 범위 안에 든 비율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보는 건물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9.4%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78.5%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82.9%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과거 거래가 있는 건물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8.6%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80.7%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(비교) 기본 추정만 사용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11.1% / 10.7%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71.7% / 73.9%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5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69.8% / 67.7%</a:t>
                      </a:r>
                      <a:endParaRPr lang="ko-KR" alt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지역별 결과(과거 거래가 있는 건물): 보통 오차 · ±20% 적중</a:t>
            </a:r>
            <a:endParaRPr lang="ko-KR" alt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강서 화곡동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8.4%  ·  80%</a:t>
            </a:r>
            <a:endParaRPr lang="ko-KR" alt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2608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관악구</a:t>
            </a:r>
            <a:endParaRPr lang="ko-KR" alt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8.3%  ·  84%</a:t>
            </a:r>
            <a:endParaRPr lang="ko-KR" alt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강남구</a:t>
            </a:r>
            <a:endParaRPr lang="ko-KR" alt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9.7%  ·  73%</a:t>
            </a:r>
            <a:endParaRPr lang="ko-KR" alt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0" y="4480560"/>
            <a:ext cx="3867912" cy="1097280"/>
          </a:xfrm>
          <a:prstGeom prst="roundRect">
            <a:avLst>
              <a:gd name="adj" fmla="val 6667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세운 목표(보통 오차 10% 이하, ±20% 적중 75% 이상, 범위 포함 70～90%)를 모두 달성했습니다</a:t>
            </a:r>
            <a:endParaRPr lang="ko-KR" alt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검증은 대상 거래를 뺀 조건이라 보수적인 수치이며, 실제 물건의 거래가 수집 데이터에 있으면 일반 비교사례로 쓰입니다 · 면적 빈칸·MAPE 등 상세는 부록 C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신뢰도가 높은 물건일수록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오차가 작았습니다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오차는 신뢰도 0.6 이하 물건 17%, 0.8 초과 물건 7%이고, ±20% 적중률은 62%에서 86%로 높아졌습니다</a:t>
            </a:r>
            <a:endParaRPr lang="ko-KR" altLang="en-US" sz="1500" dirty="0"/>
          </a:p>
        </p:txBody>
      </p:sp>
      <p:pic>
        <p:nvPicPr>
          <p:cNvPr id="5" name="Image 0" descr="C:\DA_WorkSpace\DA_Seoul_Villa_AVM\outputs\figures\eda_D1_pred_vs_actual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9021"/>
            <a:ext cx="7498080" cy="35629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600200"/>
            <a:ext cx="3364992" cy="1600200"/>
          </a:xfrm>
          <a:prstGeom prst="roundRect">
            <a:avLst>
              <a:gd name="adj" fmla="val 457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1737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높은 신뢰도 0.88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0574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174건 중 91% 적중</a:t>
            </a:r>
            <a:endParaRPr lang="ko-KR" alt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2606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오차 7.0% (과거 거래가 있는 건물)</a:t>
            </a:r>
            <a:endParaRPr lang="ko-KR" alt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275320" y="3383280"/>
            <a:ext cx="3364992" cy="2651760"/>
          </a:xfrm>
          <a:prstGeom prst="roundRect">
            <a:avLst>
              <a:gd name="adj" fmla="val 275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0" y="356616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왼쪽: 대각선 띠(±20%) 안의 점이 많을수록 정확합니다. 632건 중 80%가 띠 안에 있습니다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오른쪽: 표시한 신뢰도와 실제 적중률이 거의 같습니다(0.56→62%, 0.77→77%, 0.86→86%)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가격 편차가 크거나 소형·강남·지하층·노후 건물이면 신뢰도를 낮게 계산합니다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맞힌 경우: 검증 건물의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30%는 오차 5% 이내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였습니다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632건 중 192건이 실거래가 ±5% 안에 들었습니다. 아래는 권역별로 오차가 가장 작았던 중개거래입니다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ko-KR" alt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 5% 이내(632건 중 192건)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ko-KR" alt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높은 신뢰도(0.88) 174건의 ±20% 적중률</a:t>
            </a:r>
            <a:endParaRPr lang="ko-KR" alt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914400"/>
                <a:gridCol w="914400"/>
                <a:gridCol w="731520"/>
                <a:gridCol w="731520"/>
                <a:gridCol w="2267712"/>
              </a:tblGrid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실거래가*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신뢰도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 화곡동 57.31㎡ 1층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2.07억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2.07억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0.88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건물 거래, 보정 +9%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 화곡동 23.59㎡ 4층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0.83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건물 거래 3건, 보정 −6%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신림동 59.93㎡ 4층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3.60억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3.60억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0.83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건물 거래 없이 동네 비율만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봉천동 45.13㎡ 2층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0.88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건물 거래, 보정 −3%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청담동 90.12㎡ 1층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19.11억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19.18억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+0.4%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0.58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추정 15.6억, 보정 +23%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개포동 54.55㎡ 3층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6.74억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6.78억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+0.6%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0.69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동네 비율, 보정 +4%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57200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건물의 최근 거래나 거래가 많은 동네의 비율이 있으면 기본 추정이 안정적이었습니다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청담동 19억 원대 주택은 기본 추정(15.6억)이 낮았지만, 머신러닝 보정이 23% 올려 0.4% 차이로 맞혔습니다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맞은 물건이라도 강남·노후 조건이면 신뢰도를 낮게 표시합니다. 신뢰도는 결과가 아니라 조건으로 정해집니다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기준일 환산 실거래가 · 0%대 오차는 우연도 작용하므로 전체 성적은 13장 표가 기준입니다 · 출처: outputs/calibration_holdout_preds.csv(과거 거래가 있는 건물, 면적 입력)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크게 빗나간 경우는 대부분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시세와 다른 가격에 거래된 집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직거래처럼 사정이 있을 수 있는 거래는 주소만으로 알 수 없어 모델의 한계로 정리했습니다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ko-KR" alt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±20%를 벗어난 126건 중 공시가격 대비 유난히 싸거나 비싸게 거래된 비율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15</a:t>
            </a:r>
            <a:endParaRPr lang="ko-KR" alt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오차가 가장 큰 15건 중 직거래</a:t>
            </a:r>
            <a:endParaRPr lang="ko-KR" alt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914400"/>
                <a:gridCol w="777240"/>
                <a:gridCol w="2587752"/>
              </a:tblGrid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실거래가*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 원인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대치동 24.67㎡ 5층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1.80억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3.87억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+115%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공시가격과 거의 같은 값에 거래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청담동 37.2㎡ 2층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3.89억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7.41억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+91%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직거래, 공시가격보다 싸게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봉천동 60.09㎡ 3층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2.10억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3.82억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+82%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봉천동 68.67㎡ 1층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1.84억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3.32억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+80%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직거래, 34년 된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 화곡동 30.00㎡ 7층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1.24억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2.19억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+76%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직거래, 공시가격보다 싸게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34340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직거래(검증 대상의 10%)는 보통 오차가 22%입니다. 거래 당사자 간 사정이 가격에 반영된 것으로 보입니다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지하층·노후 건물은 미리 알 수 있어 신뢰도를 낮춰 표시합니다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비싼 집은 조금 낮게, 싼 집은 조금 높게 추정하는 경향이 있습니다(강남이 보통 5% 낮게 나오는 이유)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실거래가는 시점 지수로 기준일(2026-10-06) 가격으로 환산한 값(신고 금액과 조금 다름) · 출처: docs/의사결정/1007_13_오차_분석.md, outputs/error_top_cases.csv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6  예시 산출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권역별 예시 3건: 호 입력,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면적 빈칸, 지하층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강서구 화곡동·관악구·강남구에서 1건씩, 입력 조건을 다르게 골라 실제 출력을 옮겼습니다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강서 화곡동 354-41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 203호 · 34.01㎡</a:t>
            </a:r>
            <a:endParaRPr lang="ko-KR" alt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2.41억</a:t>
            </a:r>
            <a:endParaRPr lang="ko-KR" alt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1.99 ~ 2.84억</a:t>
            </a:r>
            <a:endParaRPr lang="ko-KR" alt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0.83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1.34억 × 실거래 배율 1.78(같은 건물 거래 2건 + 동네) = 2.38억, 건물 특징 보정 +1%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−13.4%</a:t>
            </a:r>
            <a:endParaRPr lang="ko-KR" alt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관악 봉천동 898-9</a:t>
            </a:r>
            <a:endParaRPr lang="ko-KR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3층 · 면적 빈칸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2.45억</a:t>
            </a:r>
            <a:endParaRPr lang="ko-KR" alt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2.04 ~ 2.95억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0.83</a:t>
            </a:r>
            <a:endParaRPr lang="ko-KR" alt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1.28억 × 배율 1.88 = 2.40억, 보정 +2%. 빈 면적은 공시가격 자료(39.76㎡)로 채움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+6.3%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일원동 661-1</a:t>
            </a:r>
            <a:endParaRPr lang="ko-KR" alt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· 49.08㎡</a:t>
            </a:r>
            <a:endParaRPr lang="ko-KR" alt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5.45억</a:t>
            </a:r>
            <a:endParaRPr lang="ko-KR" alt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4.00 ~ 7.95억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0.58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2.05억 × 배율 2.42 = 4.96억, 보정 +10%. 지하·강남이라 신뢰도가 낮고 범위가 넓음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−13.7%</a:t>
            </a:r>
            <a:endParaRPr lang="ko-KR" alt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출력의 근거 문장은 더 자세합니다(outputs/example_output.csv). 특정 물건의 답을 저장해 두는 방식은 쓰지 않았습니다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6  예시 산출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명령 한 줄로 실행하며,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잘못된 입력은 사유를 남기고 넘어갑니다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장의 3건에 행정동 입력 1건과 잘못된 입력 6건을 섞어 실제로 실행한 화면입니다</a:t>
            </a:r>
            <a:endParaRPr lang="ko-KR" altLang="en-US" sz="1500" dirty="0"/>
          </a:p>
        </p:txBody>
      </p:sp>
      <p:pic>
        <p:nvPicPr>
          <p:cNvPr id="5" name="Image 0" descr="C:\DA_WorkSpace\DA_Seoul_Villa_AVM\presentation\run_err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949440" cy="4269664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600200"/>
          <a:ext cx="38706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58975"/>
              </a:tblGrid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실패 사유(basis)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 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권역 밖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구(마포구), 강서구의 화곡동 외 동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 해석 불가: 동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동 이름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 해석 불가: 지번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숫자가 아닌 지번(abc)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 해석 불가: 필지 없음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존재하지 않는 지번(9999-99)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해석 불가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'옥탑'처럼 숫자가 아닌 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772400" y="4069080"/>
            <a:ext cx="38706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1～3번은 앞 장 예시와 같은 결과이고, 4번은 행정동 이름(낙성대동)을 법정동으로 바꿔 처리했습니다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행도 출력 파일에 입력과 같은 순서로 남아 입력과 1:1로 대응합니다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값을 임의로 만들거나 실행이 멈추지 않습니다</a:t>
            </a:r>
            <a:endParaRPr lang="ko-KR" alt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Windows Terminal 실행 화면(2026-10-08) · 입력 tests/demo_errors_input.csv · 근거(basis) 전문은 outputs/example_output.csv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7  AI 활용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AI와 함께 작성했고,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방향과 검증은 제가 판단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AI 도구는 Claude Code이며, 단계마다 역할을 나눠 활용했습니다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749040" cy="3931920"/>
          </a:xfrm>
          <a:prstGeom prst="roundRect">
            <a:avLst>
              <a:gd name="adj" fmla="val 195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작업 규칙을 문서로 관리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실제 실행 결과만 사용, 데이터 결합 때마다 건수 대조, 상용 시세 사용 금지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결정마다 선택지와 근거를 기록(24건)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이력을 매일 기록해 다음 날 이어서 진행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결과는 직접 확인한 뒤 반영(PR 20건 이상)</a:t>
            </a:r>
            <a:endParaRPr lang="ko-KR" alt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00200"/>
          <a:ext cx="70683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3090672"/>
              </a:tblGrid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한 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제가 판단·결정한 것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요약, 감정평가 방식을 모델에 연결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마감·기준일 해석, 검증 물건의 과거 거래도 일반 비교사례로 사용(특정 물건 분기 금지)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정부 API 응답 확인, 수집 코드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범위 결정, 약관 문제 데이터 교체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다듬기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중복·표기·이상한 거래를 걸러 내는 규칙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제외 기준(낮은 이상치만 제외)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설계, 13가지 방법 비교, 신뢰도 계산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여러 모델 비교 요구, 최종 모델·학습 3년 결정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전수 점검, 문서와 코드 대조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단계별 재검증 요청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 기록·그림·발표 자료 초안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 범위 결정, 최종 검토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7  AI 활용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AI의 오류는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직접 확인하는 단계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찾았습니다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AI의 결과를 그대로 쓰지 않고, 실행 결과·원본 데이터·과제 원문과 대조하는 단계를 따로 두었습니다</a:t>
            </a:r>
            <a:endParaRPr lang="ko-KR" alt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77640"/>
                <a:gridCol w="2011680"/>
              </a:tblGrid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방법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AI의 오류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원문·약관 확인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지하철역 위치를 저장 금지 서비스(Kakao)에서 받아 저장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정부 공공데이터로 교체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원문·약관 확인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'모은 데이터에 없는 집은 그 자리에서 조회' 요구를 놓침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중 조회 기능 추가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범위 점검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정상 거래의 26%를 이상한 거래로 잘못 표시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기준을 고쳐 0.4%로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범위 점검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 사용승인일을 잘못 읽어 연식이 2006년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 수정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실행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호수를 비교하는 버그로 20건 중 18건 오류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코드와 검사 방법 수정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하나씩 열어 보기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정상 거래 133건까지 '묶음 거래'로 잘못 분류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후 12건만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대조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데이터를 보기 전에 쓴 그림 제목 6개가 실제와 다름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표와 맞춰 수정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질문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 없이 '3년 치만 수집'을 제안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6년 수집 후 검증으로 3년 결정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명령으로 실행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엑셀로 저장한 입력 파일(CP949)을 못 읽어 전체가 멈춤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인코딩 모두 읽기,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시험 파일 추가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질문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상용 시세 비교값을 약관 확인 없이 공개 저장소에 넣음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약관 확인 후 요약만 공개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배운 점</a:t>
            </a:r>
            <a:endParaRPr lang="ko-KR" alt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0574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단계를 따로 둘 때만 오류가 드러났습니다. 그래서 단계마다 점검을 요청했습니다</a:t>
            </a:r>
            <a:endParaRPr lang="ko-KR" alt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200400"/>
            <a:ext cx="3227832" cy="2880360"/>
          </a:xfrm>
          <a:prstGeom prst="roundRect">
            <a:avLst>
              <a:gd name="adj" fmla="val 254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없이 했다면</a:t>
            </a:r>
            <a:endParaRPr lang="ko-KR" alt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2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2.5～3.5개월</a:t>
            </a:r>
            <a:endParaRPr lang="ko-KR" alt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40873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추정 · 파이썬 5개월 차 기준 · 같은 범위 · 실제 소요 3일</a:t>
            </a:r>
            <a:endParaRPr lang="ko-KR" alt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API·데이터 처리·검증 방법을 익히는 시간이 대부분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범위를 줄여도(방법 1개, 단순 신뢰도) 5～6주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구현 시간을 줄였고, 선택과 검증은 직접 했습니다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8  한계와 개선안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과제는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사정이 있는 거래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 호 단위 정보입니다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개선하기 위해서는 데이터 자동 갱신과 성능의 지속적인 재검증이 필요합니다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168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ko-KR" alt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 등 사정이 있는 거래는 구별하지 못하고 신뢰도에도 반영하지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비싼 집은 조금 낮게, 싼 집은 조금 높게 추정하는 경향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안에서는 위험 물건을 신뢰도로 충분히 구분하지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자료에 호 정보가 없어, 호까지 넣은 입력의 정확도는 검증하지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없는 집은 정확도가 낮아 신뢰도를 0.10으로 표시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갱신하지 않으면 1년 뒤 3～5% 낮게 추정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흐름은 3개월 평균이라 반응이 늦고, 신고가 덜 들어온 최근 2개월(9·10월)은 반영하지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하우스머치 참고 비교 9건에서는 하우스머치가 실거래가에 더 가까웠음(부록 G)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168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개선안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실거래가는 매월, 공시가격은 매년 자동 수집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거래로 매월 성능을 재측정하고, 기준 미달 시 재학습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사정이 있는 거래를 걸러 낼 추가 자료(등기부 등)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 단위 정보(방향·조망·내부 상태), 학교·공원·상권 거리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유사 거래를 근거로 함께 제시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모델을 미리 학습해 두고 요청마다 즉시 응답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</a:t>
            </a:r>
            <a:endParaRPr lang="ko-KR" alt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9%</a:t>
            </a:r>
            <a:endParaRPr lang="ko-KR" alt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오차(두 검증 상황 평균)</a:t>
            </a:r>
            <a:endParaRPr lang="ko-KR" alt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79%</a:t>
            </a:r>
            <a:endParaRPr lang="ko-KR" alt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 ±20% 안(두 상황 평균)</a:t>
            </a:r>
            <a:endParaRPr lang="ko-KR" alt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ko-KR" alt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 초과 물건의 ±20% 적중률</a:t>
            </a:r>
            <a:endParaRPr lang="ko-KR" alt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ko-KR" alt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4389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20건 실행 실패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1371600"/>
            <a:ext cx="10515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공시가격에서 출발해 단순하고 설명하기 쉬운 추정을 만들었습니다(가격 차이의 87% 설명)</a:t>
            </a:r>
            <a:endParaRPr lang="ko-KR" altLang="en-US" sz="18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덜 반영한 노후도·층·위치 차이를 머신러닝으로 보정해 오차를 줄였습니다(11% → 9%)</a:t>
            </a:r>
            <a:endParaRPr lang="ko-KR" altLang="en-US" sz="18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오차로 신뢰도를 계산해, 표시한 신뢰도와 실제 적중률이 거의 같습니다</a:t>
            </a:r>
            <a:endParaRPr lang="ko-KR" altLang="en-US" sz="18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밖이거나 해석할 수 없는 주소도 멈추지 않고, 해당 행에 실패 사유를 남깁니다</a:t>
            </a:r>
            <a:endParaRPr lang="ko-KR" alt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코드·데이터·의사결정 기록: github.com/KimInSeok-DA/DA_Seoul_Villa_AVM  |  다음 장부터 부록(기술 상세)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</a:t>
            </a:r>
            <a:endParaRPr lang="ko-KR" alt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상세</a:t>
            </a:r>
            <a:endParaRPr lang="ko-KR" alt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용어 풀이 · 기술 스택과 데이터 상세 · 검증 상세표 · 모델 비교 방법 · 신뢰도 계산 방법 · 시점 지수 검증 · 하우스머치 참고 비교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A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용어 풀이</a:t>
            </a:r>
            <a:endParaRPr lang="ko-KR" alt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용어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뜻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B1(기본 추정)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공시가격 × 실거래/공시 비율. 비율은 같은 건물 → 법정동 → 구 순서로 가져오고, 거래가 적으면 동네 값 쪽으로 조정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시점 지수(시점 보정)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구별·월별 실거래/공시 비율의 중앙값(3개월 이동평균). 과거 거래가를 기준일 가격으로 환산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XGBoost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 나무를 여러 개 이어 붙여 앞 나무의 오차를 다음 나무가 줄이는 머신러닝 방법(그래디언트 부스팅)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/ 잔차 / 평균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직접: 건물 특징으로 log ㎡당 가격 예측 / 잔차: log(실거래 ÷ B1) 예측해 B1을 보정 / 평균: 두 추정의 기하평균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PNU(지번)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법정동코드 10자리 + 산 여부 1자리 + 본번 4자리 + 부번 4자리. 데이터를 합치는 열쇠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홀드아웃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학습에 쓰지 않고 검증용으로 떼어 둔 표본(건물 632개)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GroupKFold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교차검증을 건물(그룹) 단위로 나눠 같은 건물이 학습·검증에 섞이지 않게 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그리드서치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하이퍼파라미터(나무 깊이·개수 등) 조합을 모두 시험해 교차검증 성적이 가장 좋은 것을 고름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부트스트랩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표본을 복원 추출로 2,000번 다시 뽑아 성적 차이의 95% 구간을 구함. 0을 포함하지 않으면 우연이 아니라고 판단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MAPE / 중앙값 오차율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|추정 − 실제| ÷ 실제의 평균 / 중앙값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수정 Z-점수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중앙값과 MAD로 계산한 이상치 점수. |z| &gt; 3.5를 이상치로 봄(Iglewicz &amp; Hoaglin 1993)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결정계수 / VIF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결정계수: 변수가 설명하는 분산 비율 / VIF: 변수끼리 얼마나 겹치는지(다중공선성)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B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스택과 데이터 상세</a:t>
            </a:r>
            <a:endParaRPr lang="ko-KR" alt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8495"/>
              </a:tblGrid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언어·환경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3.12+ (개발 3.14.5), uv + requirements.txt, 3.12·3.13·3.14 새 환경에서 같은 출력 확인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라이브러리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pandas 3.0.6, numpy 2.5.3, XGBoost 3.4.1, scikit-learn 1.9.1, requests, python-dotenv, Jupyter, matplotlib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 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DATA_GO_KR_API_KEY(실거래·건축물대장), VWORLD_API_KEY(공시가격·연속지적도), SEOUL_OPEN_API_KEY(폐쇄말소대장)·REB_API_KEY(부동산원 지수, 검증용). 환경변수로 받으며 predict.py는 키 없이도 실행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48840"/>
                <a:gridCol w="1463040"/>
                <a:gridCol w="2819095"/>
              </a:tblGrid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방식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기간·기준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건수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정제 후 · 사용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연립다세대 매매 실거래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API, 구·월별 전수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2020-10~2026-10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36,997건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33,363건 · 학습 최근 3년 14,401건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연립다세대 전월세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2020-10~2026-10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143,109건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 안 함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공동주택가격(호별)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API, 거래 지번마다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2026(없으면 최근 연도)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9,928개 지번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107,236호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건축물대장 표제부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API, 거래 지번마다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수집일 현행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9,928개 지번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연식·승강기·층수·세대수·주차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필지 좌표·공시지가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API(연속지적도), 3개 구 전체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공시지가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123,615필지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좌표·땅값·역 거리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지하철역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공공데이터 파일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2026-06-30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367개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275개 역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법정동코드·행정동 연계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공공데이터·행정안전부 파일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2026-06-30 · 2026-09-30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30개 법정동 · 63개 행정동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폐쇄말소대장 표제부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API(서울 열린데이터광장), 서울 전체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수집일 기준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383,716건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 구 49,074지번 · 철거 전 거래 523건 제외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부동산원 연립/다세대 매매 지수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API(R-ONE)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873행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시점 지수 검증에만(부록 F)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유형: 다세대 30,135 · 연립 3,097 · 혼합 표기 131건(정제 후). 정제: 해제 2,188 · 낮은 이상치(수정 Z &lt; −3.5) 331 · 일괄 매매 합계 12 · 재건축 전 580 · 철거된 건물 523 제외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C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검증 상세(632개 건물, 입력: 호 없음)</a:t>
            </a:r>
            <a:endParaRPr lang="ko-KR" alt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1463040"/>
                <a:gridCol w="1463040"/>
                <a:gridCol w="1463040"/>
                <a:gridCol w="1508760"/>
                <a:gridCol w="1538935"/>
              </a:tblGrid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중앙값 오차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MAPE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±10%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±20%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80% 구간 포함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처음 보는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52.7%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82.9%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처음 보는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73.3%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같은 건물 과거 거래 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같은 건물 과거 거래 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77.2%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기준선 B1 (A / B)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11.1% / 10.7%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15.8% / 14.7%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45.3% / 48.1%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71.7% / 73.9%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69.8% / 67.7%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36008"/>
                <a:gridCol w="4629607"/>
              </a:tblGrid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신뢰도 구간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표본 / 평균 신뢰도 / 실제 ±20%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표본 / 평균 신뢰도 / 실제 ±20%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 이하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 / 0.57 / 58.9%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 / 0.56 / 61.7%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0.6~0.7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 / 0.67 / 70.8%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94 / 0.66 / 70.2%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0.7~0.8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171 / 0.77 / 77.2%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 / 0.77 / 77.4%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 초과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268 / 0.84 / 88.1%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354 / 0.86 / 86.2%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분할: 최근 12개월 거래가 있는 평가 권역 건물 3,159개 중 20%(시드 42)를 건물 단위로 분리, 건물마다 최근 거래 1건. A는 그 건물 거래를 모두 빼고, B는 대상 거래 이전 거래만 남김. 구간·신뢰도 보정은 나머지 건물 1만 건으로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D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비교 방법과 학습 기간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13개: Ridge · KNN · 랜덤포레스트 · XGBoost × {직접(log ㎡당 가격) / 잔차(log 실거래÷B1) / 둘의 기하평균} + B1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Pipeline(결측 채움·표준화 → 모델) + GridSearchCV, 학습 세트 안에서만 GroupKFold(5, 그룹 = PNU), 기준 MAE(log)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방지: 학습 행의 B1 근거는 그 거래보다 앞선 같은 건물 거래와 자기 건물을 뺀 동네 통계로만 계산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 A(처음 보는 건물) · B(같은 건물 앞선 거래 있음) · T(2025-08까지 학습해 그 뒤 1년 맞히기)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선정 기준(±20% 적중·중앙값 오차·MAPE, 세 상황 순위, 부트스트랩 95% 구간, 단순성)을 결과 전에 문서로 고정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결과: XGB-평균이 평균 순위 1위(1.8), 가장 나쁜 순위 기준으로도 1위(2.3). 직접 방식은 T에서, 잔차 방식은 A에서 약해 둘의 평균을 채택</a:t>
            </a:r>
            <a:endParaRPr lang="ko-KR" alt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34440"/>
          <a:ext cx="450799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87552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 기간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 거래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±20% / 중앙값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±20% / 중앙값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3년(채택)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14,520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79.0% / 9.3%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80.2% / 9.0%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24,531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79.0% / 9.7%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78.5% / 9.3%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33,886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74.5% / 9.9%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78.2% / 9.5%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32320" y="34747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− 6년: A ±20% 적중 +4.4%p [+2.2, +6.8], 평균 오차 A −1.1%p · B −0.9%p(부트스트랩 95% 구간). 최종 검증과 분리한 보정 표본에서도 같은 방향(72.5% → 75.9%)</a:t>
            </a:r>
            <a:endParaRPr lang="ko-KR" alt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docs/의사결정/1007_10_ML_비교.md, 1007_13_오차_분석.md · 학습 기간 표는 철거된 건물 거래를 빼기 전(1008_02) 비교 당시 값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E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구간과 신뢰도 계산 방법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542032" cy="1600200"/>
          </a:xfrm>
          <a:prstGeom prst="roundRect">
            <a:avLst>
              <a:gd name="adj" fmla="val 45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53312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보정 표본</a:t>
            </a:r>
            <a:endParaRPr lang="ko-KR" alt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검증을 뺀 후보 중 표본이 만들어진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2,524개 건물을 5묶음으로 나눠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돌아가며 추정 → 오차 약 1만 건</a:t>
            </a:r>
            <a:endParaRPr lang="ko-KR" alt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27248" y="2029968"/>
            <a:ext cx="20116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64992" y="1234440"/>
            <a:ext cx="2542032" cy="1600200"/>
          </a:xfrm>
          <a:prstGeom prst="roundRect">
            <a:avLst>
              <a:gd name="adj" fmla="val 45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1353312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오차 점수</a:t>
            </a:r>
            <a:endParaRPr lang="ko-KR" alt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178308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예측할 때 알 수 있는 정보로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'얼마나 틀릴지'를 회귀로 추정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2029968"/>
            <a:ext cx="20116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181344" y="1234440"/>
            <a:ext cx="2542032" cy="1600200"/>
          </a:xfrm>
          <a:prstGeom prst="roundRect">
            <a:avLst>
              <a:gd name="adj" fmla="val 45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4224" y="1353312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10개 구간</a:t>
            </a:r>
            <a:endParaRPr lang="ko-KR" alt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178308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 점수 순으로 표본을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10등분해 구간마다 오차 분포 저장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759952" y="2029968"/>
            <a:ext cx="20116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997696" y="1234440"/>
            <a:ext cx="2542032" cy="1600200"/>
          </a:xfrm>
          <a:prstGeom prst="roundRect">
            <a:avLst>
              <a:gd name="adj" fmla="val 457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0576" y="1353312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적용</a:t>
            </a:r>
            <a:endParaRPr lang="ko-KR" alt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178308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물건의 오차 점수가 속한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구간의 값으로 범위·신뢰도 산출</a:t>
            </a:r>
            <a:endParaRPr lang="ko-KR" alt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5790895"/>
              </a:tblGrid>
              <a:tr h="36576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계산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 오차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 = log(추정 ÷ 실제)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0이면 정확, +면 높게, −면 낮게 추정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오차 점수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점수 = Σ 계수 × 변수 (|e|를 최소제곱 회귀)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변수: 동네·같은 건물 비율의 흩어짐, 같은 건물 거래 수, 면적, 강남·화곡, 면적 빈칸,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XGBoost 두 추정의 차이, 보정 배율, 지하층, 30년 초과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80% 범위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 = 추정 ÷ exp(q90),  상한 = 추정 ÷ exp(q10)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q10·q90 = 그 구간 로그 오차의 10%·90% 분위수(정규분포 가정 없음)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신뢰도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구간에서 |추정 ÷ 실제 − 1| ≤ 0.2 인 비율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점수가 클수록 낮아지도록 단조 보정(isotonic)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예외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공시가격 없음 → 신뢰도 0.10 고정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 표본이 20건뿐이라 별도 처리. 수집에 없는 지번은 실행 중 공공 API 조회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docs/의사결정/1007_09_구간_신뢰도_보정.md, 1007_12_실행_중_조회.md, 1007_13_오차_분석.md · src/avm.py Calibrator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F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시점 지수를 한국부동산원 지수와 비교</a:t>
            </a:r>
            <a:endParaRPr lang="ko-KR" altLang="en-US" sz="2600" dirty="0"/>
          </a:p>
        </p:txBody>
      </p:sp>
      <p:pic>
        <p:nvPicPr>
          <p:cNvPr id="4" name="Image 0" descr="C:\DA_WorkSpace\DA_Seoul_Villa_AVM\outputs\figures\reb_index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246419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299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1463040"/>
                <a:gridCol w="2103120"/>
                <a:gridCol w="2499055"/>
              </a:tblGrid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최근 3년(모델 학습 기간)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대상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수준 상관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3개월 변화 같은 방향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 변화(우리 / 부동산원)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서남권(주택가격동향조사)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0.72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+2.7% / +10.8%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서남권(주택가격동향조사)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0.92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+8.9% / +10.8%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강남구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동남권(주택가격동향조사)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+13.1% / +15.9%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감정평가 실무의 시점수정(구분건물은 다세대 매매가격지수)과 같은 역할입니다. 공식 지수는 권역 단위라 모델에는 구 단위인 자체 지수를 쓰고 공식 지수는 검증에만 썼습니다. 강서는 회복을 덜 반영하지만 검증에서 낮게 치우치지 않았습니다(치우침 −1%) · 출처: 한국부동산원 R-ONE, docs/의사결정/1008_03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부록 G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하우스머치 참고 비교 9건(입력·학습에는 사용하지 않음)</a:t>
            </a:r>
            <a:endParaRPr lang="ko-KR" alt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4876495"/>
                <a:gridCol w="3108960"/>
                <a:gridCol w="3108960"/>
              </a:tblGrid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하우스머치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보통 오차(중앙값): 9건 / 중개거래 7건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11.1% / 9.9%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5.6% / 4.8%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 ±20% 안 (9건)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6건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7건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실거래가가 범위 안 (9건)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7건 (80% 구간)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3건 (상하한시세)</a:t>
                      </a:r>
                      <a:endParaRPr lang="ko-KR" alt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71600"/>
                <a:gridCol w="1005840"/>
                <a:gridCol w="1463040"/>
                <a:gridCol w="914400"/>
              </a:tblGrid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추정 (신뢰도)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오차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화곡동 362-79 6층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2026-09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2.15억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2.04억 (0.83)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−5.0%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화곡동 811-9 1층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2026-06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2.60억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2.31억 (0.78)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−11.1%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화곡동 1016-19 4층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2026-08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2.97억 (0.69)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+9.9%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봉천동 218-42 1층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2026-08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6.35억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5.93억 (0.88)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−6.6%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신림동 98-242 3층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 2026-05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1.86억 (0.78)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+55.0%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신림동 409-184 3층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2026-07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3.75억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3.34억 (0.64)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−11.1%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개포동 1195-3 3층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2026-08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5.78억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5.37억 (0.86)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−7.0%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청담동 69-19 2층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 2026-04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3.87억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7.41억 (0.74)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+91.4%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역삼동 751-8 5층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 2026-01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5.20억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6.41억 (0.58)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+23.3%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3291840"/>
            <a:ext cx="41449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9건에서는 하우스머치가 실거래가에 더 가까웠습니다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 차이: 우리 값은 해당 거래를 빼고 낸 추정입니다. 하우스머치는 9건 중 8건이 추정 기준일(09-01) 이전 거래이고, 화면을 저장한 811-9는 그 거래가 거래사례 목록에 있었습니다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기준일 이후 거래(첫 줄)도 하우스머치가 더 가까웠습니다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 2건은 둘 다 높게 추정했고, 우리 오차가 더 컸습니다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신뢰도가 가장 낮았던 역삼동(0.58)이 중개거래 중 오차가 가장 컸습니다</a:t>
            </a:r>
            <a:endParaRPr lang="ko-KR" alt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안 건수는 성격이 다른 범위(80% 구간 vs 상하한시세)라 직접 비교가 어렵습니다 · 9건은 권역 × 신뢰도에서 무작위 선정(시드 7), 하우스머치는 직접 조회(2026-10-08, 기준일 2026-09-01). 건별 하우스머치 값은 이용약관(저작권·복제 금지)에 따라 싣지 않았습니다 · 출처: 하우스머치, docs/의사결정/1008_04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2026-10-09T00:35:47Z</dcterms:created>
  <dcterms:modified xsi:type="dcterms:W3CDTF">2026-10-09T00:35:47Z</dcterms:modified>
</cp:coreProperties>
</file>